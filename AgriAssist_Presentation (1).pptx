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1A3C2B"/>
                </a:solidFill>
                <a:latin typeface="Arial"/>
              </a:defRPr>
            </a:pPr>
            <a:r>
              <a:rPr sz="1200" b="0" i="0" u="none" strike="noStrike">
                <a:solidFill>
                  <a:srgbClr val="1A3C2B"/>
                </a:solidFill>
                <a:latin typeface="Arial"/>
              </a:rPr>
              <a:t>Precision / Recall / F1 by Class (%)</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2C5F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Healthy</c:v>
                  </c:pt>
                  <c:pt idx="1">
                    <c:v>Leaf Blight</c:v>
                  </c:pt>
                  <c:pt idx="2">
                    <c:v>Leaf Spot</c:v>
                  </c:pt>
                  <c:pt idx="3">
                    <c:v>Rust</c:v>
                  </c:pt>
                  <c:pt idx="4">
                    <c:v>Mosaic Virus</c:v>
                  </c:pt>
                </c:lvl>
              </c:multiLvlStrCache>
            </c:multiLvlStrRef>
          </c:cat>
          <c:val>
            <c:numRef>
              <c:f>Sheet1!$B$2:$B$6</c:f>
              <c:numCache>
                <c:formatCode>General</c:formatCode>
                <c:ptCount val="5"/>
                <c:pt idx="0">
                  <c:v>92</c:v>
                </c:pt>
                <c:pt idx="1">
                  <c:v>84</c:v>
                </c:pt>
                <c:pt idx="2">
                  <c:v>88</c:v>
                </c:pt>
                <c:pt idx="3">
                  <c:v>79</c:v>
                </c:pt>
                <c:pt idx="4">
                  <c:v>86</c:v>
                </c:pt>
              </c:numCache>
            </c:numRef>
          </c:val>
        </c:ser>
        <c:ser>
          <c:idx val="1"/>
          <c:order val="1"/>
          <c:tx>
            <c:strRef>
              <c:f>Sheet1!$C$1</c:f>
              <c:strCache>
                <c:ptCount val="1"/>
                <c:pt idx="0">
                  <c:v>Recall</c:v>
                </c:pt>
              </c:strCache>
            </c:strRef>
          </c:tx>
          <c:spPr>
            <a:solidFill>
              <a:srgbClr val="E8A83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Healthy</c:v>
                  </c:pt>
                  <c:pt idx="1">
                    <c:v>Leaf Blight</c:v>
                  </c:pt>
                  <c:pt idx="2">
                    <c:v>Leaf Spot</c:v>
                  </c:pt>
                  <c:pt idx="3">
                    <c:v>Rust</c:v>
                  </c:pt>
                  <c:pt idx="4">
                    <c:v>Mosaic Virus</c:v>
                  </c:pt>
                </c:lvl>
              </c:multiLvlStrCache>
            </c:multiLvlStrRef>
          </c:cat>
          <c:val>
            <c:numRef>
              <c:f>Sheet1!$C$2:$C$6</c:f>
              <c:numCache>
                <c:formatCode>General</c:formatCode>
                <c:ptCount val="5"/>
                <c:pt idx="0">
                  <c:v>95</c:v>
                </c:pt>
                <c:pt idx="1">
                  <c:v>80</c:v>
                </c:pt>
                <c:pt idx="2">
                  <c:v>85</c:v>
                </c:pt>
                <c:pt idx="3">
                  <c:v>82</c:v>
                </c:pt>
                <c:pt idx="4">
                  <c:v>83</c:v>
                </c:pt>
              </c:numCache>
            </c:numRef>
          </c:val>
        </c:ser>
        <c:ser>
          <c:idx val="2"/>
          <c:order val="2"/>
          <c:tx>
            <c:strRef>
              <c:f>Sheet1!$D$1</c:f>
              <c:strCache>
                <c:ptCount val="1"/>
                <c:pt idx="0">
                  <c:v>F1-Score</c:v>
                </c:pt>
              </c:strCache>
            </c:strRef>
          </c:tx>
          <c:spPr>
            <a:solidFill>
              <a:srgbClr val="3D6B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Healthy</c:v>
                  </c:pt>
                  <c:pt idx="1">
                    <c:v>Leaf Blight</c:v>
                  </c:pt>
                  <c:pt idx="2">
                    <c:v>Leaf Spot</c:v>
                  </c:pt>
                  <c:pt idx="3">
                    <c:v>Rust</c:v>
                  </c:pt>
                  <c:pt idx="4">
                    <c:v>Mosaic Virus</c:v>
                  </c:pt>
                </c:lvl>
              </c:multiLvlStrCache>
            </c:multiLvlStrRef>
          </c:cat>
          <c:val>
            <c:numRef>
              <c:f>Sheet1!$D$2:$D$6</c:f>
              <c:numCache>
                <c:formatCode>General</c:formatCode>
                <c:ptCount val="5"/>
                <c:pt idx="0">
                  <c:v>93</c:v>
                </c:pt>
                <c:pt idx="1">
                  <c:v>82</c:v>
                </c:pt>
                <c:pt idx="2">
                  <c:v>86</c:v>
                </c:pt>
                <c:pt idx="3">
                  <c:v>80</c:v>
                </c:pt>
                <c:pt idx="4">
                  <c:v>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Introduction
Welcome everyone. Our project is AgriAssist — a multimodal AI agricultural advisory website. The name reflects its dual-mode input: farmers can type a farming question OR upload a crop image, and the system returns an AI-generated advisory.
The core technologies are:
- CNN for image-based crop disease classification
- RAG pipeline with TF-IDF retrieval for relevant document lookup
- OpenAI API for generating the final detailed advisory
- Grad-CAM for visual explainability of the CNN predictions
- FastAPI as the web server, running locally at http://127.0.0.1:8000
This is an academic prototype designed to demonstrate integration of multiple AI components in a practical agricultural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Problem Statement
The core problem: Indian and global farmers often lack timely access to crop disease diagnosis. When a disease like Tomato Yellow Leaf Curl Virus or bacterial blight hits, early treatment is critical.
Key issues:
1. Disease identification requires expertise — visual symptoms alone are hard to interpret without training.
2. Expert access is limited — many rural farmers don't have nearby agricultural officers.
3. Manual field inspection takes time — by then, infection may have spread.
4. Generic online information doesn't account for local crop varieties, seasons, or regions.
AgriAssist combines computer vision and AI text generation to bridge this gap. It's not a replacement for experts, but a first-response tool that gives farmers actionable starting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Project Objectives
Our six main objectives define what AgriAssist must do:
01 Image-Based Diagnosis: A farmer uploads a photo of a diseased leaf. The CNN processes it and predicts the disease class with a confidence percentage.
02 Text Advisory: A farmer types "My tomato leaves are turning yellow with brown spots." The RAG pipeline retrieves the most relevant knowledge base documents and OpenAI generates a structured advisory.
03 Evidence-Grounded: Unlike a pure chatbot, AgriAssist retrieves documents first and grounds the advisory in those — reducing hallucination.
04 Explainability: The Grad-CAM feature overlays a heatmap on the image so the farmer can see "the model focused on this spot on the leaf."
05 Safety: Every advisory output has a safety disclaimer reminding farmers to verify with local experts before taking action.
06 Evaluation: We quantitatively measure our CNN's performance using standard ML classification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System Overview
AgriAssist has six main components:
1. FastAPI Website: The user interface. Built with FastAPI + Jinja2 templates. Runs at http://127.0.0.1:8000. Main file: web_app.py.
2. CNN Classifier: The crop disease image classifier. Trained using PyTorch on labeled crop disease images. Outputs a predicted class and confidence score.
3. Knowledge Base: A large structured JSON file — advisory_knowledge_base_large.json — containing agricultural advisory records built from multiple sources.
4. RAG Pipeline: Retrieval-Augmented Generation. Combines TF-IDF, cosine similarity, keyword overlap, and metadata boosting to find the most relevant documents for a query.
5. OpenAI Advisory: The final advisory report is generated by OpenAI using the retrieved documents as context. Uses gpt-4o-mini to reduce cost.
6. Grad-CAM: Visual explainability. Generates a heatmap showing which regions of the uploaded leaf image influenced the CNN's prediction.
All these components are connected through FastAPI routes in web_app.py.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Complete Architecture
There are three main flows in AgriAssist, shown here as three parallel columns:
TEXT FLOW:
User types a farming question → FastAPI receives it at POST /advisory → The RAG pipeline runs TF-IDF vectorization, cosine similarity retrieval, keyword overlap scoring, and metadata boosting → The top-K documents are selected → These are sent to OpenAI → A 12-section advisory is generated → Displayed on the website.
IMAGE PREDICTION FLOW:
User uploads a crop image → FastAPI receives it at POST /predict-image → CNN predicts disease + confidence → The predicted class is converted to a RAG query → RAG retrieves relevant documents → OpenAI generates an advisory → Website shows the uploaded image, prediction, confidence, evidence, and advisory.
GRAD-CAM FLOW:
User uploads a crop image for explainability → FastAPI at POST /gradcam → CNN runs a forward pass → Gradients are calculated from the final convolutional layer → Grad-CAM heatmap is generated → Website shows the original image overlaid with the heatmap.
Key files: web_app.py (routing), src/09_full_rag_pipeline.py (RAG), src/13_predict_uploaded_image.py (CNN prediction), src/15_gradcam_uploaded_image.py (Grad-CAM).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Image Dataset
The CNN model is trained on crop disease images organized in class folders. The dynamic dataset loader (src/07_dynamic_dataset_loader.py) automatically detects class labels from folder names. Images are preprocessed using torchvision transforms: RGB conversion, resize to a fixed input size (typically 224×224 for ResNet-based architectures), then converted to tensors. The dataset is split into training and test sets.
The download and preparation of real datasets is handled by src/06_download_real_dataset.py and src/06_real_dataset_loader.py.
SPEAKER 3 — Knowledge Base Data
The knowledge base is built from three types of sources:
1. Raw farmer advisory dataset records — real queries and solutions
2. Expert advisory JSON records created in src/10_build_large_kb.py — structured with fields like crop, problem_type, problem_name, region, season, urgency, product_recommended, and content
3. PDF document chunks — src/14_build_document_kb.py extracts text from agricultural PDFs, cleans and chunks the text, and structures each chunk as a RAG record
All sources are merged into data/advisory_knowledge_base_large.json, which the RAG pipeline loads at query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CNN Crop Disease Classification
The CNN is the core visual intelligence component of AgriAssist.
Training:
- Training is done in src/03_train_initial_model.py
- The model is trained on labeled crop disease images
- During training, the CNN learns disease-specific visual features: spots, discoloration, blight patterns, curled edges, mold-like textures, and healthy leaf structures
- We use cross-entropy loss for multi-class classification
- Backpropagation updates the model weights after each batch
- The trained model is saved at models/cnn_crop_disease_model.pt (or results/initial_model.pt)
Prediction (src/13_predict_uploaded_image.py):
- An uploaded image is loaded and preprocessed (resize, RGB convert, tensor)
- Passed through the trained CNN
- Softmax converts the output logits to a probability distribution
- The top class is selected as the predicted disease
- The confidence score (highest probability × 100) is reported
- The predicted class name is then formatted as a RAG query string, which feeds into the advisory pipeline
The dynamic dataset loader (src/07_dynamic_dataset_loader.py) makes the pipeline flexible — it automatically detects class labels from folder names without hardcoding.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Grad-CAM Explainability
Grad-CAM stands for Gradient-weighted Class Activation Mapping. The key paper is: Selvaraju et al., "Grad-CAM: Visual Explanations from Deep Networks via Gradient-based Localization", ICCV 2017.
Main file: src/15_gradcam_uploaded_image.py (for website uploads) and src/08_gradcam_explainability.py (original standalone script).
Why do we need it?
Without explainability, the CNN is a black box. A farmer or evaluator has no way to know whether the model focused on actual disease symptoms or spurious background features like soil, a label on the plant, or lighting.
The five Grad-CAM steps in detail:
1. Forward pass: The image is passed through the CNN. The class with the highest prediction score is selected.
2. Backward pass: Gradients of the class score are calculated with respect to the activation maps of the final convolutional layer.
3. Global average pooling: The gradients are averaged over spatial dimensions (height × width) for each feature map channel. This gives one importance weight per channel.
4. Weighted sum: The feature maps are multiplied by these weights and summed together to produce a raw activation map.
5. ReLU + overlay: ReLU is applied so only positive activations (features that increased the predicted class score) are shown. The map is resized to the original image dimensions and overlaid as a heatmap.
The result: red/warm areas on the heatmap = high influence. If these regions correspond to visible leaf disease patches, the model is behaving correctly.
The Grad-CAM flow is accessible on the website under the Grad-CAM section, via POST /gradcam in web_app.py.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Building the Knowledge Base
The knowledge base is the retrieval backbone of AgriAssist. Without good knowledge base data, the RAG pipeline cannot return relevant documents and the advisory quality drops.
Three sources feed into the knowledge base:
1. Farmer Advisory Dataset: Real-world records of farmer queries and expert responses. These include diverse agricultural topics — diseases, pests, irrigation, equipment, fertilizer — across regions, seasons, and urgency levels.
2. Expert Advisory JSON (src/10_build_large_kb.py): We created structured expert advisory records. Each record has metadata fields: crop (e.g. tomato, rice, cotton), problem_type (e.g. disease, pest, nutrient deficiency), problem_name (e.g. late blight, whitefly), region, season, urgency (high/medium/low), product_recommended, and content (the actual advisory text).
3. PDF Document Chunks (src/14_build_document_kb.py): Agricultural PDFs are downloaded and processed. The script uses pypdf to extract text, cleans it, splits it into chunks of manageable size, and converts each chunk into a structured RAG record with metadata.
All three sources are merged into data/advisory_knowledge_base_large.json.
During query time, the RAG pipeline loads this JSON file and searches through it using TF-IDF vectorization and additional scoring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RAG Pipeline
RAG stands for Retrieval-Augmented Generation. The core idea, from the Lewis et al. 2020 NeurIPS paper, is: retrieve relevant documents first, then generate the answer using those documents as context. This reduces hallucination compared to pure generation.
Our RAG pipeline uses four components, all in src/09_full_rag_pipeline.py:
1. TF-IDF Vectorization:
TF stands for Term Frequency — how often a word appears in a document.
IDF stands for Inverse Document Frequency — words that appear in many documents get lower weight.
Result: crop-specific words like "tomato", "whitefly", "blight", "rust" get high importance. Generic words like "the" or "is" get near-zero weight.
Both the query and each knowledge base document are converted to TF-IDF vectors using scikit-learn's TfidfVectorizer.
2. Cosine Similarity:
We compute cosine similarity between the query vector and all document vectors.
Cosine similarity measures the angle between two vectors — if they point in the same direction, similarity is high.
Documents are ranked by this score.
3. Keyword Overlap:
We count how many words from the query appear in each document.
This score is added on top of cosine similarity as a tiebreaker for keyword-heavy queries.
4. Metadata Boosting:
Documents receive a bonus weight if their structured metadata (crop, problem_type, problem_name, product_recommended, season, region) matches the query terms.
This ensures highly relevant expert records rank above generic PDF chunks for specific disease queries.
Final step: the top-K ranked documents are selected and passed to OpenAI for advisory generation.
Why TF-IDF instead of FAISS or ChromaDB? TF-IDF is interpretable, lightweight, works without a GPU, and is appropriate for an academic prototype with clear agricultural keyword-based queries. Future work includes adding semantic vector search with sentence-transformers.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OpenAI Advisory Generation
After the RAG pipeline selects the top-K documents, these are formatted into a structured prompt and sent to OpenAI's API using gpt-4o-mini.
Key points:
- The retrieval step (TF-IDF, cosine, keyword, metadata) is entirely local. OpenAI is only called for the final advisory generation step.
- This design reduces API cost — we never send the full knowledge base to OpenAI.
- The API key is stored in a .env file and loaded using python-dotenv.
- The model is instructed to generate exactly 12 sections as listed here.
The 12 sections ensure a comprehensive, structured advisory:
1. Query Understanding — confirms what the user asked
2. Retrieved Evidence Summary — summarizes the documents retrieved
3. Evidence-Based Diagnosis — diagnosis based on the evidence
4. Severity &amp; Urgency — how serious is the issue
5. Detailed Action Plan — step-by-step farmer actions
6. Product/Treatment Guidance — specific products and treatments
7. Agricultural Best Practices — general good farming advice
8. Precautions — safety precautions during treatment
9. Farmer Field Checklist — actionable checklist for the field
10. Limitations — what the system cannot guarantee
11. Final Advisory — concise final recommendation
12. Safety Note — always present disclaimer
The safety note is critical: it reminds farmers that AgriAssist is an AI prototype and they should verify all recommendations with a certified agricultural officer or agronomist before taking action.
Cost management: retrieval is local, only top-K documents are sent, gpt-4o-mini is used (cheaper than GPT-4), and output tokens are capped.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Evaluation Metrics
After training, the CNN is evaluated using src/07_model_evaluation.py. This generates a full classification report saved as results/classification_report.txt and results/classification_report.json.
The five metrics explained:
Accuracy: The simplest metric. Out of all test images, what percentage were correctly classified? Good for balanced datasets.
Precision (class-wise): If the model predicted "tomato blight" for 20 images, and 18 of those were actually tomato blight — precision = 18/20 = 90%. This measures false positive rate.
Recall (class-wise): If there were 25 actual tomato blight images in the test set, and the model found 18 of them — recall = 18/25 = 72%. This measures false negative rate. Also called sensitivity.
F1-Score: The harmonic mean of Precision and Recall. More appropriate than raw accuracy when class distribution is uneven. If precision and recall are both high, F1 is high.
Support: How many test images exist for each class. If one class has only 5 test images and another has 200, the metrics for the small class are less reliable.
Confusion Matrix (results/confusion_matrix.png): An NxN matrix where N is the number of disease classes. Each row is the true label, each column is the predicted label. Diagonal = correct. Off-diagonal = errors. By looking at which cells have high values off the diagonal, we can identify which diseases are being confused with each other (e.g. two different fungal diseases with similar visual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Evaluation Graphs
The bar chart shows precision, recall, and F1-score for each disease class. The results shown here are illustrative — your actual numbers from running the model will differ.
Key observations to discuss:
- Classes with high precision and recall (like "Healthy") indicate clear visual distinction
- Classes with lower recall (like "Rust") may have visual similarity to other diseases
- F1 balances both measures — a class can have high precision but low recall (or vice versa) and still have a moderate F1
Important evaluation scripts:
- src/07_model_evaluation.py: generates the full classification report and confusion matrix
- src/17_precision_recall_graph.py: generates a precision/recall comparison graph by class
- src/18_evaluation_graphs.py: generates F1-score graph, class support graph, and the combined precision/recall/F1 graph
All output files are saved under the results/ folder.
When presenting, refer to the actual graph images (confusion_matrix.png, etc.) if you have them printed or displayed. The confusion matrix is especially useful for showing which disease pairs the model confuses — this gives insight into future training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Website Flow &amp; Demo
The AgriAssist website is built with FastAPI and Jinja2 templates. Main file: web_app.py.
Run command: uvicorn web_app:app --reload
Access at: http://127.0.0.1:8000
Four main routes:
1. GET / — The home page. Contains the text advisory input form, image upload for prediction, and Grad-CAM upload section.
2. POST /advisory — Text advisory endpoint. User submits a farming question. FastAPI calls the RAG pipeline (src/09_full_rag_pipeline.py), retrieves top-K documents, sends them to OpenAI, and returns the full 12-section advisory along with the retrieved evidence to the website.
3. POST /predict-image — Image prediction endpoint. User uploads a crop image. FastAPI calls src/13_predict_uploaded_image.py to run CNN prediction, then converts the predicted class to a RAG query, calls the RAG pipeline and OpenAI, and returns the prediction, confidence, retrieved evidence, and advisory.
4. POST /gradcam — Grad-CAM endpoint. User uploads an image for explainability. FastAPI calls src/15_gradcam_uploaded_image.py, which runs CNN prediction and generates the Grad-CAM heatmap. Both the original image and heatmap are returned and displayed side by side on the website.
Note: The backbone comparison feature was removed from the current version of the website and should not be mentioned as an active UI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Safety, Limitations, Cost Management
Safety is built into every advisory output. The final section of every OpenAI-generated advisory is a safety note reminding farmers that:
- This is an AI prototype, not a certified diagnostic tool
- No exact pesticide dosages or chemical prescriptions are guaranteed
- Verification with a local agricultural officer or agronomist is mandatory before taking action
Limitations to be honest about:
1. CNN performance is bounded by the quality and size of the training dataset. If the model hasn't seen a particular disease, it cannot diagnose it.
2. TF-IDF retrieval may miss semantically similar queries that don't share exact keywords (e.g. "leaf yellowing" vs "chlorosis").
3. Some knowledge base records from the farmer advisory dataset may be noisy, multilingual, or overly generic.
4. Real diagnosis requires physical field inspection — the model works only from uploaded images.
5. If the retrieved documents are not relevant, OpenAI's advisory will be of lower quality.
OpenAI Cost Management:
- The most expensive part is the API call to OpenAI.
- We keep costs low by: (a) doing all retrieval locally, (b) sending only top-K documents — not the full dataset, (c) using gpt-4o-mini instead of GPT-4, (d) capping output tokens.
- Future cost reduction: cache common queries, or replace OpenAI with a local open-source LLM like Mistral or Llama for low-cost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SPEAKERS — Conclusion
Summary of what AgriAssist achieves:
- A complete multimodal AI system combining 6 different AI/ML components
- Text and image input modes with meaningful output for both
- Evidence-grounded advisory generation — not pure hallucination
- Visual explainability through Grad-CAM
- Quantitative evaluation of the CNN component
- Safety-first design with built-in disclaimers
Future roadmap:
The most impactful upgrades would be:
1. Replacing TF-IDF with FAISS semantic search — for better retrieval of semantically similar queries
2. Adding BLIP image captioning — to auto-generate crop symptom descriptions from images
3. Multilingual support — to serve farmers in regional languages (Telugu, Hindi, Tamil etc.)
4. Local LLM — to eliminate OpenAI dependency and reduce cost for production deployment
References cited:
1. Lewis et al. (2020), "Retrieval-Augmented Generation for Knowledge-Intensive NLP Tasks", NeurIPS 2020 — supports the RAG design.
2. Selvaraju et al. (2017), "Grad-CAM: Visual Explanations from Deep Networks via Gradient-based Localization", ICCV 2017 — supports the Grad-CAM explainability design.
Thank the panel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C2B"/>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C5F2D"/>
          </a:solidFill>
          <a:ln w="12700">
            <a:solidFill>
              <a:srgbClr val="2C5F2D"/>
            </a:solidFill>
            <a:prstDash val="solid"/>
          </a:ln>
        </p:spPr>
      </p:sp>
      <p:sp>
        <p:nvSpPr>
          <p:cNvPr id="3" name="Shape 1"/>
          <p:cNvSpPr/>
          <p:nvPr/>
        </p:nvSpPr>
        <p:spPr>
          <a:xfrm>
            <a:off x="0" y="4663440"/>
            <a:ext cx="9144000" cy="480060"/>
          </a:xfrm>
          <a:prstGeom prst="rect">
            <a:avLst/>
          </a:prstGeom>
          <a:solidFill>
            <a:srgbClr val="E8A838"/>
          </a:solidFill>
          <a:ln w="12700">
            <a:solidFill>
              <a:srgbClr val="E8A838"/>
            </a:solidFill>
            <a:prstDash val="solid"/>
          </a:ln>
        </p:spPr>
      </p:sp>
      <p:pic>
        <p:nvPicPr>
          <p:cNvPr id="4" name="Image 0" descr="preencoded.png">    </p:cNvPr>
          <p:cNvPicPr>
            <a:picLocks noChangeAspect="1"/>
          </p:cNvPicPr>
          <p:nvPr/>
        </p:nvPicPr>
        <p:blipFill>
          <a:blip r:embed="rId1"/>
          <a:stretch>
            <a:fillRect/>
          </a:stretch>
        </p:blipFill>
        <p:spPr>
          <a:xfrm>
            <a:off x="7315200" y="274320"/>
            <a:ext cx="502920" cy="502920"/>
          </a:xfrm>
          <a:prstGeom prst="rect">
            <a:avLst/>
          </a:prstGeom>
        </p:spPr>
      </p:pic>
      <p:pic>
        <p:nvPicPr>
          <p:cNvPr id="5" name="Image 1" descr="preencoded.png">    </p:cNvPr>
          <p:cNvPicPr>
            <a:picLocks noChangeAspect="1"/>
          </p:cNvPicPr>
          <p:nvPr/>
        </p:nvPicPr>
        <p:blipFill>
          <a:blip r:embed="rId2"/>
          <a:stretch>
            <a:fillRect/>
          </a:stretch>
        </p:blipFill>
        <p:spPr>
          <a:xfrm>
            <a:off x="7909560" y="274320"/>
            <a:ext cx="502920" cy="502920"/>
          </a:xfrm>
          <a:prstGeom prst="rect">
            <a:avLst/>
          </a:prstGeom>
        </p:spPr>
      </p:pic>
      <p:pic>
        <p:nvPicPr>
          <p:cNvPr id="6" name="Image 2" descr="preencoded.png">    </p:cNvPr>
          <p:cNvPicPr>
            <a:picLocks noChangeAspect="1"/>
          </p:cNvPicPr>
          <p:nvPr/>
        </p:nvPicPr>
        <p:blipFill>
          <a:blip r:embed="rId3"/>
          <a:stretch>
            <a:fillRect/>
          </a:stretch>
        </p:blipFill>
        <p:spPr>
          <a:xfrm>
            <a:off x="8503920" y="274320"/>
            <a:ext cx="502920" cy="502920"/>
          </a:xfrm>
          <a:prstGeom prst="rect">
            <a:avLst/>
          </a:prstGeom>
        </p:spPr>
      </p:pic>
      <p:sp>
        <p:nvSpPr>
          <p:cNvPr id="7" name="Text 2"/>
          <p:cNvSpPr/>
          <p:nvPr/>
        </p:nvSpPr>
        <p:spPr>
          <a:xfrm>
            <a:off x="457200" y="914400"/>
            <a:ext cx="804672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AgriAssist</a:t>
            </a:r>
            <a:endParaRPr lang="en-US" sz="5200" dirty="0"/>
          </a:p>
        </p:txBody>
      </p:sp>
      <p:sp>
        <p:nvSpPr>
          <p:cNvPr id="8" name="Text 3"/>
          <p:cNvSpPr/>
          <p:nvPr/>
        </p:nvSpPr>
        <p:spPr>
          <a:xfrm>
            <a:off x="457200" y="1828800"/>
            <a:ext cx="8046720" cy="822960"/>
          </a:xfrm>
          <a:prstGeom prst="rect">
            <a:avLst/>
          </a:prstGeom>
          <a:noFill/>
          <a:ln/>
        </p:spPr>
        <p:txBody>
          <a:bodyPr wrap="square" lIns="0" tIns="0" rIns="0" bIns="0" rtlCol="0" anchor="ctr"/>
          <a:lstStyle/>
          <a:p>
            <a:pPr indent="0" marL="0">
              <a:buNone/>
            </a:pPr>
            <a:r>
              <a:rPr lang="en-US" sz="2000" dirty="0">
                <a:solidFill>
                  <a:srgbClr val="A8D5B5"/>
                </a:solidFill>
                <a:latin typeface="Calibri" pitchFamily="34" charset="0"/>
                <a:ea typeface="Calibri" pitchFamily="34" charset="-122"/>
                <a:cs typeface="Calibri" pitchFamily="34" charset="-120"/>
              </a:rPr>
              <a:t>Multimodal Crop Disease Diagnosis</a:t>
            </a:r>
            <a:endParaRPr lang="en-US" sz="2000" dirty="0"/>
          </a:p>
          <a:p>
            <a:pPr indent="0" marL="0">
              <a:buNone/>
            </a:pPr>
            <a:r>
              <a:rPr lang="en-US" sz="2000" dirty="0">
                <a:solidFill>
                  <a:srgbClr val="A8D5B5"/>
                </a:solidFill>
                <a:latin typeface="Calibri" pitchFamily="34" charset="0"/>
                <a:ea typeface="Calibri" pitchFamily="34" charset="-122"/>
                <a:cs typeface="Calibri" pitchFamily="34" charset="-120"/>
              </a:rPr>
              <a:t>&amp; AI Agricultural Advisory Website</a:t>
            </a:r>
            <a:endParaRPr lang="en-US" sz="2000" dirty="0"/>
          </a:p>
        </p:txBody>
      </p:sp>
      <p:sp>
        <p:nvSpPr>
          <p:cNvPr id="9" name="Shape 4"/>
          <p:cNvSpPr/>
          <p:nvPr/>
        </p:nvSpPr>
        <p:spPr>
          <a:xfrm>
            <a:off x="457200" y="2788920"/>
            <a:ext cx="1417320" cy="347472"/>
          </a:xfrm>
          <a:prstGeom prst="rect">
            <a:avLst/>
          </a:prstGeom>
          <a:solidFill>
            <a:srgbClr val="4A7C59"/>
          </a:solidFill>
          <a:ln w="12700">
            <a:solidFill>
              <a:srgbClr val="6BAA75"/>
            </a:solidFill>
            <a:prstDash val="solid"/>
          </a:ln>
        </p:spPr>
      </p:sp>
      <p:sp>
        <p:nvSpPr>
          <p:cNvPr id="10" name="Text 5"/>
          <p:cNvSpPr/>
          <p:nvPr/>
        </p:nvSpPr>
        <p:spPr>
          <a:xfrm>
            <a:off x="457200" y="2788920"/>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CNN</a:t>
            </a:r>
            <a:endParaRPr lang="en-US" sz="1100" dirty="0"/>
          </a:p>
        </p:txBody>
      </p:sp>
      <p:sp>
        <p:nvSpPr>
          <p:cNvPr id="11" name="Shape 6"/>
          <p:cNvSpPr/>
          <p:nvPr/>
        </p:nvSpPr>
        <p:spPr>
          <a:xfrm>
            <a:off x="2121408" y="2788920"/>
            <a:ext cx="1417320" cy="347472"/>
          </a:xfrm>
          <a:prstGeom prst="rect">
            <a:avLst/>
          </a:prstGeom>
          <a:solidFill>
            <a:srgbClr val="4A7C59"/>
          </a:solidFill>
          <a:ln w="12700">
            <a:solidFill>
              <a:srgbClr val="6BAA75"/>
            </a:solidFill>
            <a:prstDash val="solid"/>
          </a:ln>
        </p:spPr>
      </p:sp>
      <p:sp>
        <p:nvSpPr>
          <p:cNvPr id="12" name="Text 7"/>
          <p:cNvSpPr/>
          <p:nvPr/>
        </p:nvSpPr>
        <p:spPr>
          <a:xfrm>
            <a:off x="2121408" y="2788920"/>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RAG</a:t>
            </a:r>
            <a:endParaRPr lang="en-US" sz="1100" dirty="0"/>
          </a:p>
        </p:txBody>
      </p:sp>
      <p:sp>
        <p:nvSpPr>
          <p:cNvPr id="13" name="Shape 8"/>
          <p:cNvSpPr/>
          <p:nvPr/>
        </p:nvSpPr>
        <p:spPr>
          <a:xfrm>
            <a:off x="3785616" y="2788920"/>
            <a:ext cx="1417320" cy="347472"/>
          </a:xfrm>
          <a:prstGeom prst="rect">
            <a:avLst/>
          </a:prstGeom>
          <a:solidFill>
            <a:srgbClr val="4A7C59"/>
          </a:solidFill>
          <a:ln w="12700">
            <a:solidFill>
              <a:srgbClr val="6BAA75"/>
            </a:solidFill>
            <a:prstDash val="solid"/>
          </a:ln>
        </p:spPr>
      </p:sp>
      <p:sp>
        <p:nvSpPr>
          <p:cNvPr id="14" name="Text 9"/>
          <p:cNvSpPr/>
          <p:nvPr/>
        </p:nvSpPr>
        <p:spPr>
          <a:xfrm>
            <a:off x="3785616" y="2788920"/>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OpenAI</a:t>
            </a:r>
            <a:endParaRPr lang="en-US" sz="1100" dirty="0"/>
          </a:p>
        </p:txBody>
      </p:sp>
      <p:sp>
        <p:nvSpPr>
          <p:cNvPr id="15" name="Shape 10"/>
          <p:cNvSpPr/>
          <p:nvPr/>
        </p:nvSpPr>
        <p:spPr>
          <a:xfrm>
            <a:off x="5449824" y="2788920"/>
            <a:ext cx="1417320" cy="347472"/>
          </a:xfrm>
          <a:prstGeom prst="rect">
            <a:avLst/>
          </a:prstGeom>
          <a:solidFill>
            <a:srgbClr val="4A7C59"/>
          </a:solidFill>
          <a:ln w="12700">
            <a:solidFill>
              <a:srgbClr val="6BAA75"/>
            </a:solidFill>
            <a:prstDash val="solid"/>
          </a:ln>
        </p:spPr>
      </p:sp>
      <p:sp>
        <p:nvSpPr>
          <p:cNvPr id="16" name="Text 11"/>
          <p:cNvSpPr/>
          <p:nvPr/>
        </p:nvSpPr>
        <p:spPr>
          <a:xfrm>
            <a:off x="5449824" y="2788920"/>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Grad-CAM</a:t>
            </a:r>
            <a:endParaRPr lang="en-US" sz="1100" dirty="0"/>
          </a:p>
        </p:txBody>
      </p:sp>
      <p:sp>
        <p:nvSpPr>
          <p:cNvPr id="17" name="Shape 12"/>
          <p:cNvSpPr/>
          <p:nvPr/>
        </p:nvSpPr>
        <p:spPr>
          <a:xfrm>
            <a:off x="7114032" y="2788920"/>
            <a:ext cx="1417320" cy="347472"/>
          </a:xfrm>
          <a:prstGeom prst="rect">
            <a:avLst/>
          </a:prstGeom>
          <a:solidFill>
            <a:srgbClr val="4A7C59"/>
          </a:solidFill>
          <a:ln w="12700">
            <a:solidFill>
              <a:srgbClr val="6BAA75"/>
            </a:solidFill>
            <a:prstDash val="solid"/>
          </a:ln>
        </p:spPr>
      </p:sp>
      <p:sp>
        <p:nvSpPr>
          <p:cNvPr id="18" name="Text 13"/>
          <p:cNvSpPr/>
          <p:nvPr/>
        </p:nvSpPr>
        <p:spPr>
          <a:xfrm>
            <a:off x="7114032" y="2788920"/>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FastAPI</a:t>
            </a:r>
            <a:endParaRPr lang="en-US" sz="1100" dirty="0"/>
          </a:p>
        </p:txBody>
      </p:sp>
      <p:sp>
        <p:nvSpPr>
          <p:cNvPr id="19" name="Shape 14"/>
          <p:cNvSpPr/>
          <p:nvPr/>
        </p:nvSpPr>
        <p:spPr>
          <a:xfrm>
            <a:off x="457200" y="3291840"/>
            <a:ext cx="5029200" cy="1188720"/>
          </a:xfrm>
          <a:prstGeom prst="rect">
            <a:avLst/>
          </a:prstGeom>
          <a:solidFill>
            <a:srgbClr val="152B1E"/>
          </a:solidFill>
          <a:ln w="12700">
            <a:solidFill>
              <a:srgbClr val="4A7C59"/>
            </a:solidFill>
            <a:prstDash val="solid"/>
          </a:ln>
        </p:spPr>
      </p:sp>
      <p:sp>
        <p:nvSpPr>
          <p:cNvPr id="20" name="Text 15"/>
          <p:cNvSpPr/>
          <p:nvPr/>
        </p:nvSpPr>
        <p:spPr>
          <a:xfrm>
            <a:off x="640080" y="3337560"/>
            <a:ext cx="4663440" cy="1097280"/>
          </a:xfrm>
          <a:prstGeom prst="rect">
            <a:avLst/>
          </a:prstGeom>
          <a:noFill/>
          <a:ln/>
        </p:spPr>
        <p:txBody>
          <a:bodyPr wrap="square" lIns="50800" tIns="50800" rIns="50800" bIns="50800" rtlCol="0" anchor="ctr"/>
          <a:lstStyle/>
          <a:p>
            <a:pPr indent="0" marL="0">
              <a:buNone/>
            </a:pPr>
            <a:r>
              <a:rPr lang="en-US" sz="1100" b="1" dirty="0">
                <a:solidFill>
                  <a:srgbClr val="E8A838"/>
                </a:solidFill>
                <a:latin typeface="Calibri" pitchFamily="34" charset="0"/>
                <a:ea typeface="Calibri" pitchFamily="34" charset="-122"/>
                <a:cs typeface="Calibri" pitchFamily="34" charset="-120"/>
              </a:rPr>
              <a:t>Team Members</a:t>
            </a:r>
            <a:endParaRPr lang="en-US" sz="1100" dirty="0"/>
          </a:p>
          <a:p>
            <a:pPr indent="0" marL="0">
              <a:buNone/>
            </a:pPr>
            <a:r>
              <a:rPr lang="en-US" sz="1050" dirty="0">
                <a:solidFill>
                  <a:srgbClr val="FFFFFF"/>
                </a:solidFill>
                <a:latin typeface="Calibri" pitchFamily="34" charset="0"/>
                <a:ea typeface="Calibri" pitchFamily="34" charset="-122"/>
                <a:cs typeface="Calibri" pitchFamily="34" charset="-120"/>
              </a:rPr>
              <a:t>Sohan Varma   ·   Surya Teja   ·   K. Thilak</a:t>
            </a:r>
            <a:endParaRPr lang="en-US" sz="1100" dirty="0"/>
          </a:p>
          <a:p>
            <a:pPr indent="0" marL="0">
              <a:buNone/>
            </a:pPr>
            <a:r>
              <a:rPr lang="en-US" sz="1050" dirty="0">
                <a:solidFill>
                  <a:srgbClr val="FFFFFF"/>
                </a:solidFill>
                <a:latin typeface="Calibri" pitchFamily="34" charset="0"/>
                <a:ea typeface="Calibri" pitchFamily="34" charset="-122"/>
                <a:cs typeface="Calibri" pitchFamily="34" charset="-120"/>
              </a:rPr>
              <a:t>Sumanth   ·   Rama Raju</a:t>
            </a:r>
            <a:endParaRPr lang="en-US" sz="1100" dirty="0"/>
          </a:p>
        </p:txBody>
      </p:sp>
      <p:sp>
        <p:nvSpPr>
          <p:cNvPr id="21" name="Text 16"/>
          <p:cNvSpPr/>
          <p:nvPr/>
        </p:nvSpPr>
        <p:spPr>
          <a:xfrm>
            <a:off x="457200" y="4681728"/>
            <a:ext cx="6400800" cy="320040"/>
          </a:xfrm>
          <a:prstGeom prst="rect">
            <a:avLst/>
          </a:prstGeom>
          <a:noFill/>
          <a:ln/>
        </p:spPr>
        <p:txBody>
          <a:bodyPr wrap="square" lIns="0" tIns="0" rIns="0" bIns="0" rtlCol="0" anchor="ctr"/>
          <a:lstStyle/>
          <a:p>
            <a:pPr indent="0" marL="0">
              <a:buNone/>
            </a:pPr>
            <a:r>
              <a:rPr lang="en-US" sz="1000" dirty="0">
                <a:solidFill>
                  <a:srgbClr val="1A3C2B"/>
                </a:solidFill>
                <a:latin typeface="Calibri" pitchFamily="34" charset="0"/>
                <a:ea typeface="Calibri" pitchFamily="34" charset="-122"/>
                <a:cs typeface="Calibri" pitchFamily="34" charset="-120"/>
              </a:rPr>
              <a:t>GitHub: github.com/SohanVarma/AgriAssist-Completed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Problem Statement</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Why AgriAssist is needed</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234440"/>
            <a:ext cx="4114800" cy="15087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234440"/>
            <a:ext cx="64008" cy="1508760"/>
          </a:xfrm>
          <a:prstGeom prst="rect">
            <a:avLst/>
          </a:prstGeom>
          <a:solidFill>
            <a:srgbClr val="2C5F2D"/>
          </a:solidFill>
          <a:ln w="12700">
            <a:solidFill>
              <a:srgbClr val="2C5F2D"/>
            </a:solidFill>
            <a:prstDash val="solid"/>
          </a:ln>
        </p:spPr>
      </p:sp>
      <p:sp>
        <p:nvSpPr>
          <p:cNvPr id="8" name="Shape 6"/>
          <p:cNvSpPr/>
          <p:nvPr/>
        </p:nvSpPr>
        <p:spPr>
          <a:xfrm>
            <a:off x="429768" y="1344168"/>
            <a:ext cx="384048" cy="384048"/>
          </a:xfrm>
          <a:prstGeom prst="ellipse">
            <a:avLst/>
          </a:prstGeom>
          <a:solidFill>
            <a:srgbClr val="2C5F2D"/>
          </a:solidFill>
          <a:ln w="12700">
            <a:solidFill>
              <a:srgbClr val="2C5F2D"/>
            </a:solidFill>
            <a:prstDash val="solid"/>
          </a:ln>
        </p:spPr>
      </p:sp>
      <p:pic>
        <p:nvPicPr>
          <p:cNvPr id="9" name="Image 0" descr="preencoded.png">    </p:cNvPr>
          <p:cNvPicPr>
            <a:picLocks noChangeAspect="1"/>
          </p:cNvPicPr>
          <p:nvPr/>
        </p:nvPicPr>
        <p:blipFill>
          <a:blip r:embed="rId1"/>
          <a:stretch>
            <a:fillRect/>
          </a:stretch>
        </p:blipFill>
        <p:spPr>
          <a:xfrm>
            <a:off x="493776" y="1408176"/>
            <a:ext cx="256032" cy="256032"/>
          </a:xfrm>
          <a:prstGeom prst="rect">
            <a:avLst/>
          </a:prstGeom>
        </p:spPr>
      </p:pic>
      <p:sp>
        <p:nvSpPr>
          <p:cNvPr id="10" name="Text 7"/>
          <p:cNvSpPr/>
          <p:nvPr/>
        </p:nvSpPr>
        <p:spPr>
          <a:xfrm>
            <a:off x="886968" y="1344168"/>
            <a:ext cx="3383280" cy="320040"/>
          </a:xfrm>
          <a:prstGeom prst="rect">
            <a:avLst/>
          </a:prstGeom>
          <a:noFill/>
          <a:ln/>
        </p:spPr>
        <p:txBody>
          <a:bodyPr wrap="square" lIns="0" tIns="0" rIns="0" bIns="0" rtlCol="0" anchor="ctr"/>
          <a:lstStyle/>
          <a:p>
            <a:pPr indent="0" marL="0">
              <a:buNone/>
            </a:pPr>
            <a:r>
              <a:rPr lang="en-US" sz="1300" b="1" dirty="0">
                <a:solidFill>
                  <a:srgbClr val="1A3C2B"/>
                </a:solidFill>
                <a:latin typeface="Calibri" pitchFamily="34" charset="0"/>
                <a:ea typeface="Calibri" pitchFamily="34" charset="-122"/>
                <a:cs typeface="Calibri" pitchFamily="34" charset="-120"/>
              </a:rPr>
              <a:t>Difficult Disease ID</a:t>
            </a:r>
            <a:endParaRPr lang="en-US" sz="1300" dirty="0"/>
          </a:p>
        </p:txBody>
      </p:sp>
      <p:sp>
        <p:nvSpPr>
          <p:cNvPr id="11" name="Text 8"/>
          <p:cNvSpPr/>
          <p:nvPr/>
        </p:nvSpPr>
        <p:spPr>
          <a:xfrm>
            <a:off x="886968" y="1673352"/>
            <a:ext cx="3383280" cy="1005840"/>
          </a:xfrm>
          <a:prstGeom prst="rect">
            <a:avLst/>
          </a:prstGeom>
          <a:noFill/>
          <a:ln/>
        </p:spPr>
        <p:txBody>
          <a:bodyPr wrap="square" lIns="0" tIns="0" rIns="0" bIns="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Farmers struggle to visually identify crop diseases accurately, especially early-stage infections that look similar.</a:t>
            </a:r>
            <a:endParaRPr lang="en-US" sz="1100" dirty="0"/>
          </a:p>
        </p:txBody>
      </p:sp>
      <p:sp>
        <p:nvSpPr>
          <p:cNvPr id="12" name="Shape 9"/>
          <p:cNvSpPr/>
          <p:nvPr/>
        </p:nvSpPr>
        <p:spPr>
          <a:xfrm>
            <a:off x="4709160" y="1234440"/>
            <a:ext cx="4114800" cy="15087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3" name="Shape 10"/>
          <p:cNvSpPr/>
          <p:nvPr/>
        </p:nvSpPr>
        <p:spPr>
          <a:xfrm>
            <a:off x="4709160" y="1234440"/>
            <a:ext cx="64008" cy="1508760"/>
          </a:xfrm>
          <a:prstGeom prst="rect">
            <a:avLst/>
          </a:prstGeom>
          <a:solidFill>
            <a:srgbClr val="2C5F2D"/>
          </a:solidFill>
          <a:ln w="12700">
            <a:solidFill>
              <a:srgbClr val="2C5F2D"/>
            </a:solidFill>
            <a:prstDash val="solid"/>
          </a:ln>
        </p:spPr>
      </p:sp>
      <p:sp>
        <p:nvSpPr>
          <p:cNvPr id="14" name="Shape 11"/>
          <p:cNvSpPr/>
          <p:nvPr/>
        </p:nvSpPr>
        <p:spPr>
          <a:xfrm>
            <a:off x="4818888" y="1344168"/>
            <a:ext cx="384048" cy="384048"/>
          </a:xfrm>
          <a:prstGeom prst="ellipse">
            <a:avLst/>
          </a:prstGeom>
          <a:solidFill>
            <a:srgbClr val="2C5F2D"/>
          </a:solidFill>
          <a:ln w="12700">
            <a:solidFill>
              <a:srgbClr val="2C5F2D"/>
            </a:solidFill>
            <a:prstDash val="solid"/>
          </a:ln>
        </p:spPr>
      </p:sp>
      <p:pic>
        <p:nvPicPr>
          <p:cNvPr id="15" name="Image 1" descr="preencoded.png">    </p:cNvPr>
          <p:cNvPicPr>
            <a:picLocks noChangeAspect="1"/>
          </p:cNvPicPr>
          <p:nvPr/>
        </p:nvPicPr>
        <p:blipFill>
          <a:blip r:embed="rId2"/>
          <a:stretch>
            <a:fillRect/>
          </a:stretch>
        </p:blipFill>
        <p:spPr>
          <a:xfrm>
            <a:off x="4882896" y="1408176"/>
            <a:ext cx="256032" cy="256032"/>
          </a:xfrm>
          <a:prstGeom prst="rect">
            <a:avLst/>
          </a:prstGeom>
        </p:spPr>
      </p:pic>
      <p:sp>
        <p:nvSpPr>
          <p:cNvPr id="16" name="Text 12"/>
          <p:cNvSpPr/>
          <p:nvPr/>
        </p:nvSpPr>
        <p:spPr>
          <a:xfrm>
            <a:off x="5276088" y="1344168"/>
            <a:ext cx="3383280" cy="320040"/>
          </a:xfrm>
          <a:prstGeom prst="rect">
            <a:avLst/>
          </a:prstGeom>
          <a:noFill/>
          <a:ln/>
        </p:spPr>
        <p:txBody>
          <a:bodyPr wrap="square" lIns="0" tIns="0" rIns="0" bIns="0" rtlCol="0" anchor="ctr"/>
          <a:lstStyle/>
          <a:p>
            <a:pPr indent="0" marL="0">
              <a:buNone/>
            </a:pPr>
            <a:r>
              <a:rPr lang="en-US" sz="1300" b="1" dirty="0">
                <a:solidFill>
                  <a:srgbClr val="1A3C2B"/>
                </a:solidFill>
                <a:latin typeface="Calibri" pitchFamily="34" charset="0"/>
                <a:ea typeface="Calibri" pitchFamily="34" charset="-122"/>
                <a:cs typeface="Calibri" pitchFamily="34" charset="-120"/>
              </a:rPr>
              <a:t>Limited Expert Access</a:t>
            </a:r>
            <a:endParaRPr lang="en-US" sz="1300" dirty="0"/>
          </a:p>
        </p:txBody>
      </p:sp>
      <p:sp>
        <p:nvSpPr>
          <p:cNvPr id="17" name="Text 13"/>
          <p:cNvSpPr/>
          <p:nvPr/>
        </p:nvSpPr>
        <p:spPr>
          <a:xfrm>
            <a:off x="5276088" y="1673352"/>
            <a:ext cx="3383280" cy="1005840"/>
          </a:xfrm>
          <a:prstGeom prst="rect">
            <a:avLst/>
          </a:prstGeom>
          <a:noFill/>
          <a:ln/>
        </p:spPr>
        <p:txBody>
          <a:bodyPr wrap="square" lIns="0" tIns="0" rIns="0" bIns="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Agricultural experts and extension officers are often unavailable, particularly in rural and remote farming areas.</a:t>
            </a:r>
            <a:endParaRPr lang="en-US" sz="1100" dirty="0"/>
          </a:p>
        </p:txBody>
      </p:sp>
      <p:sp>
        <p:nvSpPr>
          <p:cNvPr id="18" name="Shape 14"/>
          <p:cNvSpPr/>
          <p:nvPr/>
        </p:nvSpPr>
        <p:spPr>
          <a:xfrm>
            <a:off x="320040" y="2926080"/>
            <a:ext cx="4114800" cy="15087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9" name="Shape 15"/>
          <p:cNvSpPr/>
          <p:nvPr/>
        </p:nvSpPr>
        <p:spPr>
          <a:xfrm>
            <a:off x="320040" y="2926080"/>
            <a:ext cx="64008" cy="1508760"/>
          </a:xfrm>
          <a:prstGeom prst="rect">
            <a:avLst/>
          </a:prstGeom>
          <a:solidFill>
            <a:srgbClr val="2C5F2D"/>
          </a:solidFill>
          <a:ln w="12700">
            <a:solidFill>
              <a:srgbClr val="2C5F2D"/>
            </a:solidFill>
            <a:prstDash val="solid"/>
          </a:ln>
        </p:spPr>
      </p:sp>
      <p:sp>
        <p:nvSpPr>
          <p:cNvPr id="20" name="Shape 16"/>
          <p:cNvSpPr/>
          <p:nvPr/>
        </p:nvSpPr>
        <p:spPr>
          <a:xfrm>
            <a:off x="429768" y="3035808"/>
            <a:ext cx="384048" cy="384048"/>
          </a:xfrm>
          <a:prstGeom prst="ellipse">
            <a:avLst/>
          </a:prstGeom>
          <a:solidFill>
            <a:srgbClr val="2C5F2D"/>
          </a:solidFill>
          <a:ln w="12700">
            <a:solidFill>
              <a:srgbClr val="2C5F2D"/>
            </a:solidFill>
            <a:prstDash val="solid"/>
          </a:ln>
        </p:spPr>
      </p:sp>
      <p:pic>
        <p:nvPicPr>
          <p:cNvPr id="21" name="Image 2" descr="preencoded.png">    </p:cNvPr>
          <p:cNvPicPr>
            <a:picLocks noChangeAspect="1"/>
          </p:cNvPicPr>
          <p:nvPr/>
        </p:nvPicPr>
        <p:blipFill>
          <a:blip r:embed="rId3"/>
          <a:stretch>
            <a:fillRect/>
          </a:stretch>
        </p:blipFill>
        <p:spPr>
          <a:xfrm>
            <a:off x="493776" y="3099816"/>
            <a:ext cx="256032" cy="256032"/>
          </a:xfrm>
          <a:prstGeom prst="rect">
            <a:avLst/>
          </a:prstGeom>
        </p:spPr>
      </p:pic>
      <p:sp>
        <p:nvSpPr>
          <p:cNvPr id="22" name="Text 17"/>
          <p:cNvSpPr/>
          <p:nvPr/>
        </p:nvSpPr>
        <p:spPr>
          <a:xfrm>
            <a:off x="886968" y="3035808"/>
            <a:ext cx="3383280" cy="320040"/>
          </a:xfrm>
          <a:prstGeom prst="rect">
            <a:avLst/>
          </a:prstGeom>
          <a:noFill/>
          <a:ln/>
        </p:spPr>
        <p:txBody>
          <a:bodyPr wrap="square" lIns="0" tIns="0" rIns="0" bIns="0" rtlCol="0" anchor="ctr"/>
          <a:lstStyle/>
          <a:p>
            <a:pPr indent="0" marL="0">
              <a:buNone/>
            </a:pPr>
            <a:r>
              <a:rPr lang="en-US" sz="1300" b="1" dirty="0">
                <a:solidFill>
                  <a:srgbClr val="1A3C2B"/>
                </a:solidFill>
                <a:latin typeface="Calibri" pitchFamily="34" charset="0"/>
                <a:ea typeface="Calibri" pitchFamily="34" charset="-122"/>
                <a:cs typeface="Calibri" pitchFamily="34" charset="-120"/>
              </a:rPr>
              <a:t>Slow Manual Diagnosis</a:t>
            </a:r>
            <a:endParaRPr lang="en-US" sz="1300" dirty="0"/>
          </a:p>
        </p:txBody>
      </p:sp>
      <p:sp>
        <p:nvSpPr>
          <p:cNvPr id="23" name="Text 18"/>
          <p:cNvSpPr/>
          <p:nvPr/>
        </p:nvSpPr>
        <p:spPr>
          <a:xfrm>
            <a:off x="886968" y="3364992"/>
            <a:ext cx="3383280" cy="1005840"/>
          </a:xfrm>
          <a:prstGeom prst="rect">
            <a:avLst/>
          </a:prstGeom>
          <a:noFill/>
          <a:ln/>
        </p:spPr>
        <p:txBody>
          <a:bodyPr wrap="square" lIns="0" tIns="0" rIns="0" bIns="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Traditional methods require physical inspection and lab testing, causing dangerous delays in treatment.</a:t>
            </a:r>
            <a:endParaRPr lang="en-US" sz="1100" dirty="0"/>
          </a:p>
        </p:txBody>
      </p:sp>
      <p:sp>
        <p:nvSpPr>
          <p:cNvPr id="24" name="Shape 19"/>
          <p:cNvSpPr/>
          <p:nvPr/>
        </p:nvSpPr>
        <p:spPr>
          <a:xfrm>
            <a:off x="4709160" y="2926080"/>
            <a:ext cx="4114800" cy="15087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5" name="Shape 20"/>
          <p:cNvSpPr/>
          <p:nvPr/>
        </p:nvSpPr>
        <p:spPr>
          <a:xfrm>
            <a:off x="4709160" y="2926080"/>
            <a:ext cx="64008" cy="1508760"/>
          </a:xfrm>
          <a:prstGeom prst="rect">
            <a:avLst/>
          </a:prstGeom>
          <a:solidFill>
            <a:srgbClr val="2C5F2D"/>
          </a:solidFill>
          <a:ln w="12700">
            <a:solidFill>
              <a:srgbClr val="2C5F2D"/>
            </a:solidFill>
            <a:prstDash val="solid"/>
          </a:ln>
        </p:spPr>
      </p:sp>
      <p:sp>
        <p:nvSpPr>
          <p:cNvPr id="26" name="Shape 21"/>
          <p:cNvSpPr/>
          <p:nvPr/>
        </p:nvSpPr>
        <p:spPr>
          <a:xfrm>
            <a:off x="4818888" y="3035808"/>
            <a:ext cx="384048" cy="384048"/>
          </a:xfrm>
          <a:prstGeom prst="ellipse">
            <a:avLst/>
          </a:prstGeom>
          <a:solidFill>
            <a:srgbClr val="2C5F2D"/>
          </a:solidFill>
          <a:ln w="12700">
            <a:solidFill>
              <a:srgbClr val="2C5F2D"/>
            </a:solidFill>
            <a:prstDash val="solid"/>
          </a:ln>
        </p:spPr>
      </p:sp>
      <p:pic>
        <p:nvPicPr>
          <p:cNvPr id="27" name="Image 3" descr="preencoded.png">    </p:cNvPr>
          <p:cNvPicPr>
            <a:picLocks noChangeAspect="1"/>
          </p:cNvPicPr>
          <p:nvPr/>
        </p:nvPicPr>
        <p:blipFill>
          <a:blip r:embed="rId4"/>
          <a:stretch>
            <a:fillRect/>
          </a:stretch>
        </p:blipFill>
        <p:spPr>
          <a:xfrm>
            <a:off x="4882896" y="3099816"/>
            <a:ext cx="256032" cy="256032"/>
          </a:xfrm>
          <a:prstGeom prst="rect">
            <a:avLst/>
          </a:prstGeom>
        </p:spPr>
      </p:pic>
      <p:sp>
        <p:nvSpPr>
          <p:cNvPr id="28" name="Text 22"/>
          <p:cNvSpPr/>
          <p:nvPr/>
        </p:nvSpPr>
        <p:spPr>
          <a:xfrm>
            <a:off x="5276088" y="3035808"/>
            <a:ext cx="3383280" cy="320040"/>
          </a:xfrm>
          <a:prstGeom prst="rect">
            <a:avLst/>
          </a:prstGeom>
          <a:noFill/>
          <a:ln/>
        </p:spPr>
        <p:txBody>
          <a:bodyPr wrap="square" lIns="0" tIns="0" rIns="0" bIns="0" rtlCol="0" anchor="ctr"/>
          <a:lstStyle/>
          <a:p>
            <a:pPr indent="0" marL="0">
              <a:buNone/>
            </a:pPr>
            <a:r>
              <a:rPr lang="en-US" sz="1300" b="1" dirty="0">
                <a:solidFill>
                  <a:srgbClr val="1A3C2B"/>
                </a:solidFill>
                <a:latin typeface="Calibri" pitchFamily="34" charset="0"/>
                <a:ea typeface="Calibri" pitchFamily="34" charset="-122"/>
                <a:cs typeface="Calibri" pitchFamily="34" charset="-120"/>
              </a:rPr>
              <a:t>Unreliable Information</a:t>
            </a:r>
            <a:endParaRPr lang="en-US" sz="1300" dirty="0"/>
          </a:p>
        </p:txBody>
      </p:sp>
      <p:sp>
        <p:nvSpPr>
          <p:cNvPr id="29" name="Text 23"/>
          <p:cNvSpPr/>
          <p:nvPr/>
        </p:nvSpPr>
        <p:spPr>
          <a:xfrm>
            <a:off x="5276088" y="3364992"/>
            <a:ext cx="3383280" cy="1005840"/>
          </a:xfrm>
          <a:prstGeom prst="rect">
            <a:avLst/>
          </a:prstGeom>
          <a:noFill/>
          <a:ln/>
        </p:spPr>
        <p:txBody>
          <a:bodyPr wrap="square" lIns="0" tIns="0" rIns="0" bIns="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Online information is often generic, not localized, or lacks actionable guidance for specific crops and regions.</a:t>
            </a:r>
            <a:endParaRPr lang="en-US" sz="1100" dirty="0"/>
          </a:p>
        </p:txBody>
      </p:sp>
      <p:sp>
        <p:nvSpPr>
          <p:cNvPr id="30" name="Shape 24"/>
          <p:cNvSpPr/>
          <p:nvPr/>
        </p:nvSpPr>
        <p:spPr>
          <a:xfrm>
            <a:off x="320040" y="4617720"/>
            <a:ext cx="6217920" cy="365760"/>
          </a:xfrm>
          <a:prstGeom prst="rect">
            <a:avLst/>
          </a:prstGeom>
          <a:solidFill>
            <a:srgbClr val="D4EDD9"/>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1" name="Text 25"/>
          <p:cNvSpPr/>
          <p:nvPr/>
        </p:nvSpPr>
        <p:spPr>
          <a:xfrm>
            <a:off x="411480" y="4636008"/>
            <a:ext cx="6035040" cy="329184"/>
          </a:xfrm>
          <a:prstGeom prst="rect">
            <a:avLst/>
          </a:prstGeom>
          <a:noFill/>
          <a:ln/>
        </p:spPr>
        <p:txBody>
          <a:bodyPr wrap="square" lIns="0" tIns="0" rIns="0" bIns="0" rtlCol="0" anchor="ctr"/>
          <a:lstStyle/>
          <a:p>
            <a:pPr indent="0" marL="0">
              <a:buNone/>
            </a:pPr>
            <a:r>
              <a:rPr lang="en-US" sz="1050" i="1" dirty="0">
                <a:solidFill>
                  <a:srgbClr val="1A3C2B"/>
                </a:solidFill>
                <a:latin typeface="Calibri" pitchFamily="34" charset="0"/>
                <a:ea typeface="Calibri" pitchFamily="34" charset="-122"/>
                <a:cs typeface="Calibri" pitchFamily="34" charset="-120"/>
              </a:rPr>
              <a:t>AgriAssist addresses these gaps through AI-driven multimodal diagnosis and evidence-grounded advisory generation.</a:t>
            </a:r>
            <a:endParaRPr lang="en-US" sz="1050" dirty="0"/>
          </a:p>
        </p:txBody>
      </p:sp>
      <p:sp>
        <p:nvSpPr>
          <p:cNvPr id="32" name="Shape 26"/>
          <p:cNvSpPr/>
          <p:nvPr/>
        </p:nvSpPr>
        <p:spPr>
          <a:xfrm>
            <a:off x="6858000" y="4663440"/>
            <a:ext cx="2011680" cy="320040"/>
          </a:xfrm>
          <a:prstGeom prst="rect">
            <a:avLst/>
          </a:prstGeom>
          <a:solidFill>
            <a:srgbClr val="2C5F2D"/>
          </a:solidFill>
          <a:ln w="12700">
            <a:solidFill>
              <a:srgbClr val="2C5F2D"/>
            </a:solidFill>
            <a:prstDash val="solid"/>
          </a:ln>
        </p:spPr>
      </p:sp>
      <p:sp>
        <p:nvSpPr>
          <p:cNvPr id="33" name="Text 27"/>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Project Objectives</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What AgriAssist aims to accomplish</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234440"/>
            <a:ext cx="269748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234440"/>
            <a:ext cx="2697480" cy="411480"/>
          </a:xfrm>
          <a:prstGeom prst="rect">
            <a:avLst/>
          </a:prstGeom>
          <a:solidFill>
            <a:srgbClr val="2C5F2D"/>
          </a:solidFill>
          <a:ln w="12700">
            <a:solidFill>
              <a:srgbClr val="2C5F2D"/>
            </a:solidFill>
            <a:prstDash val="solid"/>
          </a:ln>
        </p:spPr>
      </p:sp>
      <p:sp>
        <p:nvSpPr>
          <p:cNvPr id="8" name="Text 6"/>
          <p:cNvSpPr/>
          <p:nvPr/>
        </p:nvSpPr>
        <p:spPr>
          <a:xfrm>
            <a:off x="393192" y="1298448"/>
            <a:ext cx="365760" cy="274320"/>
          </a:xfrm>
          <a:prstGeom prst="rect">
            <a:avLst/>
          </a:prstGeom>
          <a:noFill/>
          <a:ln/>
        </p:spPr>
        <p:txBody>
          <a:bodyPr wrap="square" lIns="0" tIns="0" rIns="0" bIns="0"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01</a:t>
            </a:r>
            <a:endParaRPr lang="en-US" sz="1400" dirty="0"/>
          </a:p>
        </p:txBody>
      </p:sp>
      <p:pic>
        <p:nvPicPr>
          <p:cNvPr id="9" name="Image 0" descr="preencoded.png">    </p:cNvPr>
          <p:cNvPicPr>
            <a:picLocks noChangeAspect="1"/>
          </p:cNvPicPr>
          <p:nvPr/>
        </p:nvPicPr>
        <p:blipFill>
          <a:blip r:embed="rId1"/>
          <a:stretch>
            <a:fillRect/>
          </a:stretch>
        </p:blipFill>
        <p:spPr>
          <a:xfrm>
            <a:off x="2532888" y="1307592"/>
            <a:ext cx="256032" cy="256032"/>
          </a:xfrm>
          <a:prstGeom prst="rect">
            <a:avLst/>
          </a:prstGeom>
        </p:spPr>
      </p:pic>
      <p:sp>
        <p:nvSpPr>
          <p:cNvPr id="10" name="Text 7"/>
          <p:cNvSpPr/>
          <p:nvPr/>
        </p:nvSpPr>
        <p:spPr>
          <a:xfrm>
            <a:off x="411480" y="1691640"/>
            <a:ext cx="2514600" cy="32004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Image-Based Diagnosis</a:t>
            </a:r>
            <a:endParaRPr lang="en-US" sz="1100" dirty="0"/>
          </a:p>
        </p:txBody>
      </p:sp>
      <p:sp>
        <p:nvSpPr>
          <p:cNvPr id="11" name="Text 8"/>
          <p:cNvSpPr/>
          <p:nvPr/>
        </p:nvSpPr>
        <p:spPr>
          <a:xfrm>
            <a:off x="411480" y="2011680"/>
            <a:ext cx="2514600" cy="777240"/>
          </a:xfrm>
          <a:prstGeom prst="rect">
            <a:avLst/>
          </a:prstGeom>
          <a:noFill/>
          <a:ln/>
        </p:spPr>
        <p:txBody>
          <a:bodyPr wrap="square" lIns="0" tIns="0" rIns="0" bIns="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Accept uploaded crop/leaf images, run CNN classification, return predicted disease and confidence score.</a:t>
            </a:r>
            <a:endParaRPr lang="en-US" sz="1000" dirty="0"/>
          </a:p>
        </p:txBody>
      </p:sp>
      <p:sp>
        <p:nvSpPr>
          <p:cNvPr id="12" name="Shape 9"/>
          <p:cNvSpPr/>
          <p:nvPr/>
        </p:nvSpPr>
        <p:spPr>
          <a:xfrm>
            <a:off x="3227832" y="1234440"/>
            <a:ext cx="269748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3" name="Shape 10"/>
          <p:cNvSpPr/>
          <p:nvPr/>
        </p:nvSpPr>
        <p:spPr>
          <a:xfrm>
            <a:off x="3227832" y="1234440"/>
            <a:ext cx="2697480" cy="411480"/>
          </a:xfrm>
          <a:prstGeom prst="rect">
            <a:avLst/>
          </a:prstGeom>
          <a:solidFill>
            <a:srgbClr val="2C5F2D"/>
          </a:solidFill>
          <a:ln w="12700">
            <a:solidFill>
              <a:srgbClr val="2C5F2D"/>
            </a:solidFill>
            <a:prstDash val="solid"/>
          </a:ln>
        </p:spPr>
      </p:sp>
      <p:sp>
        <p:nvSpPr>
          <p:cNvPr id="14" name="Text 11"/>
          <p:cNvSpPr/>
          <p:nvPr/>
        </p:nvSpPr>
        <p:spPr>
          <a:xfrm>
            <a:off x="3300984" y="1298448"/>
            <a:ext cx="365760" cy="274320"/>
          </a:xfrm>
          <a:prstGeom prst="rect">
            <a:avLst/>
          </a:prstGeom>
          <a:noFill/>
          <a:ln/>
        </p:spPr>
        <p:txBody>
          <a:bodyPr wrap="square" lIns="0" tIns="0" rIns="0" bIns="0"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02</a:t>
            </a:r>
            <a:endParaRPr lang="en-US" sz="1400" dirty="0"/>
          </a:p>
        </p:txBody>
      </p:sp>
      <p:pic>
        <p:nvPicPr>
          <p:cNvPr id="15" name="Image 1" descr="preencoded.png">    </p:cNvPr>
          <p:cNvPicPr>
            <a:picLocks noChangeAspect="1"/>
          </p:cNvPicPr>
          <p:nvPr/>
        </p:nvPicPr>
        <p:blipFill>
          <a:blip r:embed="rId2"/>
          <a:stretch>
            <a:fillRect/>
          </a:stretch>
        </p:blipFill>
        <p:spPr>
          <a:xfrm>
            <a:off x="5440680" y="1307592"/>
            <a:ext cx="256032" cy="256032"/>
          </a:xfrm>
          <a:prstGeom prst="rect">
            <a:avLst/>
          </a:prstGeom>
        </p:spPr>
      </p:pic>
      <p:sp>
        <p:nvSpPr>
          <p:cNvPr id="16" name="Text 12"/>
          <p:cNvSpPr/>
          <p:nvPr/>
        </p:nvSpPr>
        <p:spPr>
          <a:xfrm>
            <a:off x="3319272" y="1691640"/>
            <a:ext cx="2514600" cy="32004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Text-Based Advisory</a:t>
            </a:r>
            <a:endParaRPr lang="en-US" sz="1100" dirty="0"/>
          </a:p>
        </p:txBody>
      </p:sp>
      <p:sp>
        <p:nvSpPr>
          <p:cNvPr id="17" name="Text 13"/>
          <p:cNvSpPr/>
          <p:nvPr/>
        </p:nvSpPr>
        <p:spPr>
          <a:xfrm>
            <a:off x="3319272" y="2011680"/>
            <a:ext cx="2514600" cy="777240"/>
          </a:xfrm>
          <a:prstGeom prst="rect">
            <a:avLst/>
          </a:prstGeom>
          <a:noFill/>
          <a:ln/>
        </p:spPr>
        <p:txBody>
          <a:bodyPr wrap="square" lIns="0" tIns="0" rIns="0" bIns="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Accept natural language farming queries and retrieve relevant documents before generating an advisory.</a:t>
            </a:r>
            <a:endParaRPr lang="en-US" sz="1000" dirty="0"/>
          </a:p>
        </p:txBody>
      </p:sp>
      <p:sp>
        <p:nvSpPr>
          <p:cNvPr id="18" name="Shape 14"/>
          <p:cNvSpPr/>
          <p:nvPr/>
        </p:nvSpPr>
        <p:spPr>
          <a:xfrm>
            <a:off x="6135624" y="1234440"/>
            <a:ext cx="269748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9" name="Shape 15"/>
          <p:cNvSpPr/>
          <p:nvPr/>
        </p:nvSpPr>
        <p:spPr>
          <a:xfrm>
            <a:off x="6135624" y="1234440"/>
            <a:ext cx="2697480" cy="411480"/>
          </a:xfrm>
          <a:prstGeom prst="rect">
            <a:avLst/>
          </a:prstGeom>
          <a:solidFill>
            <a:srgbClr val="2C5F2D"/>
          </a:solidFill>
          <a:ln w="12700">
            <a:solidFill>
              <a:srgbClr val="2C5F2D"/>
            </a:solidFill>
            <a:prstDash val="solid"/>
          </a:ln>
        </p:spPr>
      </p:sp>
      <p:sp>
        <p:nvSpPr>
          <p:cNvPr id="20" name="Text 16"/>
          <p:cNvSpPr/>
          <p:nvPr/>
        </p:nvSpPr>
        <p:spPr>
          <a:xfrm>
            <a:off x="6208776" y="1298448"/>
            <a:ext cx="365760" cy="274320"/>
          </a:xfrm>
          <a:prstGeom prst="rect">
            <a:avLst/>
          </a:prstGeom>
          <a:noFill/>
          <a:ln/>
        </p:spPr>
        <p:txBody>
          <a:bodyPr wrap="square" lIns="0" tIns="0" rIns="0" bIns="0"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03</a:t>
            </a:r>
            <a:endParaRPr lang="en-US" sz="1400" dirty="0"/>
          </a:p>
        </p:txBody>
      </p:sp>
      <p:pic>
        <p:nvPicPr>
          <p:cNvPr id="21" name="Image 2" descr="preencoded.png">    </p:cNvPr>
          <p:cNvPicPr>
            <a:picLocks noChangeAspect="1"/>
          </p:cNvPicPr>
          <p:nvPr/>
        </p:nvPicPr>
        <p:blipFill>
          <a:blip r:embed="rId3"/>
          <a:stretch>
            <a:fillRect/>
          </a:stretch>
        </p:blipFill>
        <p:spPr>
          <a:xfrm>
            <a:off x="8348472" y="1307592"/>
            <a:ext cx="256032" cy="256032"/>
          </a:xfrm>
          <a:prstGeom prst="rect">
            <a:avLst/>
          </a:prstGeom>
        </p:spPr>
      </p:pic>
      <p:sp>
        <p:nvSpPr>
          <p:cNvPr id="22" name="Text 17"/>
          <p:cNvSpPr/>
          <p:nvPr/>
        </p:nvSpPr>
        <p:spPr>
          <a:xfrm>
            <a:off x="6227064" y="1691640"/>
            <a:ext cx="2514600" cy="32004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Evidence-Grounded Output</a:t>
            </a:r>
            <a:endParaRPr lang="en-US" sz="1100" dirty="0"/>
          </a:p>
        </p:txBody>
      </p:sp>
      <p:sp>
        <p:nvSpPr>
          <p:cNvPr id="23" name="Text 18"/>
          <p:cNvSpPr/>
          <p:nvPr/>
        </p:nvSpPr>
        <p:spPr>
          <a:xfrm>
            <a:off x="6227064" y="2011680"/>
            <a:ext cx="2514600" cy="777240"/>
          </a:xfrm>
          <a:prstGeom prst="rect">
            <a:avLst/>
          </a:prstGeom>
          <a:noFill/>
          <a:ln/>
        </p:spPr>
        <p:txBody>
          <a:bodyPr wrap="square" lIns="0" tIns="0" rIns="0" bIns="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Ground all advisory responses in retrieved agricultural knowledge — not purely generative hallucination.</a:t>
            </a:r>
            <a:endParaRPr lang="en-US" sz="1000" dirty="0"/>
          </a:p>
        </p:txBody>
      </p:sp>
      <p:sp>
        <p:nvSpPr>
          <p:cNvPr id="24" name="Shape 19"/>
          <p:cNvSpPr/>
          <p:nvPr/>
        </p:nvSpPr>
        <p:spPr>
          <a:xfrm>
            <a:off x="320040" y="2990088"/>
            <a:ext cx="269748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5" name="Shape 20"/>
          <p:cNvSpPr/>
          <p:nvPr/>
        </p:nvSpPr>
        <p:spPr>
          <a:xfrm>
            <a:off x="320040" y="2990088"/>
            <a:ext cx="2697480" cy="411480"/>
          </a:xfrm>
          <a:prstGeom prst="rect">
            <a:avLst/>
          </a:prstGeom>
          <a:solidFill>
            <a:srgbClr val="2C5F2D"/>
          </a:solidFill>
          <a:ln w="12700">
            <a:solidFill>
              <a:srgbClr val="2C5F2D"/>
            </a:solidFill>
            <a:prstDash val="solid"/>
          </a:ln>
        </p:spPr>
      </p:sp>
      <p:sp>
        <p:nvSpPr>
          <p:cNvPr id="26" name="Text 21"/>
          <p:cNvSpPr/>
          <p:nvPr/>
        </p:nvSpPr>
        <p:spPr>
          <a:xfrm>
            <a:off x="393192" y="3054096"/>
            <a:ext cx="365760" cy="274320"/>
          </a:xfrm>
          <a:prstGeom prst="rect">
            <a:avLst/>
          </a:prstGeom>
          <a:noFill/>
          <a:ln/>
        </p:spPr>
        <p:txBody>
          <a:bodyPr wrap="square" lIns="0" tIns="0" rIns="0" bIns="0"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04</a:t>
            </a:r>
            <a:endParaRPr lang="en-US" sz="1400" dirty="0"/>
          </a:p>
        </p:txBody>
      </p:sp>
      <p:pic>
        <p:nvPicPr>
          <p:cNvPr id="27" name="Image 3" descr="preencoded.png">    </p:cNvPr>
          <p:cNvPicPr>
            <a:picLocks noChangeAspect="1"/>
          </p:cNvPicPr>
          <p:nvPr/>
        </p:nvPicPr>
        <p:blipFill>
          <a:blip r:embed="rId4"/>
          <a:stretch>
            <a:fillRect/>
          </a:stretch>
        </p:blipFill>
        <p:spPr>
          <a:xfrm>
            <a:off x="2532888" y="3063240"/>
            <a:ext cx="256032" cy="256032"/>
          </a:xfrm>
          <a:prstGeom prst="rect">
            <a:avLst/>
          </a:prstGeom>
        </p:spPr>
      </p:pic>
      <p:sp>
        <p:nvSpPr>
          <p:cNvPr id="28" name="Text 22"/>
          <p:cNvSpPr/>
          <p:nvPr/>
        </p:nvSpPr>
        <p:spPr>
          <a:xfrm>
            <a:off x="411480" y="3447288"/>
            <a:ext cx="2514600" cy="32004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Visual Explainability</a:t>
            </a:r>
            <a:endParaRPr lang="en-US" sz="1100" dirty="0"/>
          </a:p>
        </p:txBody>
      </p:sp>
      <p:sp>
        <p:nvSpPr>
          <p:cNvPr id="29" name="Text 23"/>
          <p:cNvSpPr/>
          <p:nvPr/>
        </p:nvSpPr>
        <p:spPr>
          <a:xfrm>
            <a:off x="411480" y="3767328"/>
            <a:ext cx="2514600" cy="777240"/>
          </a:xfrm>
          <a:prstGeom prst="rect">
            <a:avLst/>
          </a:prstGeom>
          <a:noFill/>
          <a:ln/>
        </p:spPr>
        <p:txBody>
          <a:bodyPr wrap="square" lIns="0" tIns="0" rIns="0" bIns="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Use Grad-CAM heatmaps to show which leaf regions influenced the CNN prediction.</a:t>
            </a:r>
            <a:endParaRPr lang="en-US" sz="1000" dirty="0"/>
          </a:p>
        </p:txBody>
      </p:sp>
      <p:sp>
        <p:nvSpPr>
          <p:cNvPr id="30" name="Shape 24"/>
          <p:cNvSpPr/>
          <p:nvPr/>
        </p:nvSpPr>
        <p:spPr>
          <a:xfrm>
            <a:off x="3227832" y="2990088"/>
            <a:ext cx="269748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1" name="Shape 25"/>
          <p:cNvSpPr/>
          <p:nvPr/>
        </p:nvSpPr>
        <p:spPr>
          <a:xfrm>
            <a:off x="3227832" y="2990088"/>
            <a:ext cx="2697480" cy="411480"/>
          </a:xfrm>
          <a:prstGeom prst="rect">
            <a:avLst/>
          </a:prstGeom>
          <a:solidFill>
            <a:srgbClr val="2C5F2D"/>
          </a:solidFill>
          <a:ln w="12700">
            <a:solidFill>
              <a:srgbClr val="2C5F2D"/>
            </a:solidFill>
            <a:prstDash val="solid"/>
          </a:ln>
        </p:spPr>
      </p:sp>
      <p:sp>
        <p:nvSpPr>
          <p:cNvPr id="32" name="Text 26"/>
          <p:cNvSpPr/>
          <p:nvPr/>
        </p:nvSpPr>
        <p:spPr>
          <a:xfrm>
            <a:off x="3300984" y="3054096"/>
            <a:ext cx="365760" cy="274320"/>
          </a:xfrm>
          <a:prstGeom prst="rect">
            <a:avLst/>
          </a:prstGeom>
          <a:noFill/>
          <a:ln/>
        </p:spPr>
        <p:txBody>
          <a:bodyPr wrap="square" lIns="0" tIns="0" rIns="0" bIns="0"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05</a:t>
            </a:r>
            <a:endParaRPr lang="en-US" sz="1400" dirty="0"/>
          </a:p>
        </p:txBody>
      </p:sp>
      <p:pic>
        <p:nvPicPr>
          <p:cNvPr id="33" name="Image 4" descr="preencoded.png">    </p:cNvPr>
          <p:cNvPicPr>
            <a:picLocks noChangeAspect="1"/>
          </p:cNvPicPr>
          <p:nvPr/>
        </p:nvPicPr>
        <p:blipFill>
          <a:blip r:embed="rId5"/>
          <a:stretch>
            <a:fillRect/>
          </a:stretch>
        </p:blipFill>
        <p:spPr>
          <a:xfrm>
            <a:off x="5440680" y="3063240"/>
            <a:ext cx="256032" cy="256032"/>
          </a:xfrm>
          <a:prstGeom prst="rect">
            <a:avLst/>
          </a:prstGeom>
        </p:spPr>
      </p:pic>
      <p:sp>
        <p:nvSpPr>
          <p:cNvPr id="34" name="Text 27"/>
          <p:cNvSpPr/>
          <p:nvPr/>
        </p:nvSpPr>
        <p:spPr>
          <a:xfrm>
            <a:off x="3319272" y="3447288"/>
            <a:ext cx="2514600" cy="32004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Safety-Conscious Design</a:t>
            </a:r>
            <a:endParaRPr lang="en-US" sz="1100" dirty="0"/>
          </a:p>
        </p:txBody>
      </p:sp>
      <p:sp>
        <p:nvSpPr>
          <p:cNvPr id="35" name="Text 28"/>
          <p:cNvSpPr/>
          <p:nvPr/>
        </p:nvSpPr>
        <p:spPr>
          <a:xfrm>
            <a:off x="3319272" y="3767328"/>
            <a:ext cx="2514600" cy="777240"/>
          </a:xfrm>
          <a:prstGeom prst="rect">
            <a:avLst/>
          </a:prstGeom>
          <a:noFill/>
          <a:ln/>
        </p:spPr>
        <p:txBody>
          <a:bodyPr wrap="square" lIns="0" tIns="0" rIns="0" bIns="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Always include safety disclaimers, precautions, and encourage verification with local experts.</a:t>
            </a:r>
            <a:endParaRPr lang="en-US" sz="1000" dirty="0"/>
          </a:p>
        </p:txBody>
      </p:sp>
      <p:sp>
        <p:nvSpPr>
          <p:cNvPr id="36" name="Shape 29"/>
          <p:cNvSpPr/>
          <p:nvPr/>
        </p:nvSpPr>
        <p:spPr>
          <a:xfrm>
            <a:off x="6135624" y="2990088"/>
            <a:ext cx="269748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7" name="Shape 30"/>
          <p:cNvSpPr/>
          <p:nvPr/>
        </p:nvSpPr>
        <p:spPr>
          <a:xfrm>
            <a:off x="6135624" y="2990088"/>
            <a:ext cx="2697480" cy="411480"/>
          </a:xfrm>
          <a:prstGeom prst="rect">
            <a:avLst/>
          </a:prstGeom>
          <a:solidFill>
            <a:srgbClr val="2C5F2D"/>
          </a:solidFill>
          <a:ln w="12700">
            <a:solidFill>
              <a:srgbClr val="2C5F2D"/>
            </a:solidFill>
            <a:prstDash val="solid"/>
          </a:ln>
        </p:spPr>
      </p:sp>
      <p:sp>
        <p:nvSpPr>
          <p:cNvPr id="38" name="Text 31"/>
          <p:cNvSpPr/>
          <p:nvPr/>
        </p:nvSpPr>
        <p:spPr>
          <a:xfrm>
            <a:off x="6208776" y="3054096"/>
            <a:ext cx="365760" cy="274320"/>
          </a:xfrm>
          <a:prstGeom prst="rect">
            <a:avLst/>
          </a:prstGeom>
          <a:noFill/>
          <a:ln/>
        </p:spPr>
        <p:txBody>
          <a:bodyPr wrap="square" lIns="0" tIns="0" rIns="0" bIns="0"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06</a:t>
            </a:r>
            <a:endParaRPr lang="en-US" sz="1400" dirty="0"/>
          </a:p>
        </p:txBody>
      </p:sp>
      <p:pic>
        <p:nvPicPr>
          <p:cNvPr id="39" name="Image 5" descr="preencoded.png">    </p:cNvPr>
          <p:cNvPicPr>
            <a:picLocks noChangeAspect="1"/>
          </p:cNvPicPr>
          <p:nvPr/>
        </p:nvPicPr>
        <p:blipFill>
          <a:blip r:embed="rId6"/>
          <a:stretch>
            <a:fillRect/>
          </a:stretch>
        </p:blipFill>
        <p:spPr>
          <a:xfrm>
            <a:off x="8348472" y="3063240"/>
            <a:ext cx="256032" cy="256032"/>
          </a:xfrm>
          <a:prstGeom prst="rect">
            <a:avLst/>
          </a:prstGeom>
        </p:spPr>
      </p:pic>
      <p:sp>
        <p:nvSpPr>
          <p:cNvPr id="40" name="Text 32"/>
          <p:cNvSpPr/>
          <p:nvPr/>
        </p:nvSpPr>
        <p:spPr>
          <a:xfrm>
            <a:off x="6227064" y="3447288"/>
            <a:ext cx="2514600" cy="32004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Evaluated Performance</a:t>
            </a:r>
            <a:endParaRPr lang="en-US" sz="1100" dirty="0"/>
          </a:p>
        </p:txBody>
      </p:sp>
      <p:sp>
        <p:nvSpPr>
          <p:cNvPr id="41" name="Text 33"/>
          <p:cNvSpPr/>
          <p:nvPr/>
        </p:nvSpPr>
        <p:spPr>
          <a:xfrm>
            <a:off x="6227064" y="3767328"/>
            <a:ext cx="2514600" cy="777240"/>
          </a:xfrm>
          <a:prstGeom prst="rect">
            <a:avLst/>
          </a:prstGeom>
          <a:noFill/>
          <a:ln/>
        </p:spPr>
        <p:txBody>
          <a:bodyPr wrap="square" lIns="0" tIns="0" rIns="0" bIns="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Report accuracy, precision, recall, F1-score, support, and confusion matrix for the CNN classifier.</a:t>
            </a:r>
            <a:endParaRPr lang="en-US" sz="1000" dirty="0"/>
          </a:p>
        </p:txBody>
      </p:sp>
      <p:sp>
        <p:nvSpPr>
          <p:cNvPr id="42" name="Shape 34"/>
          <p:cNvSpPr/>
          <p:nvPr/>
        </p:nvSpPr>
        <p:spPr>
          <a:xfrm>
            <a:off x="6858000" y="4663440"/>
            <a:ext cx="2011680" cy="320040"/>
          </a:xfrm>
          <a:prstGeom prst="rect">
            <a:avLst/>
          </a:prstGeom>
          <a:solidFill>
            <a:srgbClr val="2C5F2D"/>
          </a:solidFill>
          <a:ln w="12700">
            <a:solidFill>
              <a:srgbClr val="2C5F2D"/>
            </a:solidFill>
            <a:prstDash val="solid"/>
          </a:ln>
        </p:spPr>
      </p:sp>
      <p:sp>
        <p:nvSpPr>
          <p:cNvPr id="43" name="Text 35"/>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System Overview</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Main components of AgriAssist</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47472" y="1234440"/>
            <a:ext cx="2633472" cy="15544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1472184" y="1344168"/>
            <a:ext cx="384048" cy="384048"/>
          </a:xfrm>
          <a:prstGeom prst="ellipse">
            <a:avLst/>
          </a:prstGeom>
          <a:solidFill>
            <a:srgbClr val="2C5F2D"/>
          </a:solidFill>
          <a:ln w="12700">
            <a:solidFill>
              <a:srgbClr val="2C5F2D"/>
            </a:solidFill>
            <a:prstDash val="solid"/>
          </a:ln>
        </p:spPr>
      </p:sp>
      <p:pic>
        <p:nvPicPr>
          <p:cNvPr id="8" name="Image 0" descr="preencoded.png">    </p:cNvPr>
          <p:cNvPicPr>
            <a:picLocks noChangeAspect="1"/>
          </p:cNvPicPr>
          <p:nvPr/>
        </p:nvPicPr>
        <p:blipFill>
          <a:blip r:embed="rId1"/>
          <a:stretch>
            <a:fillRect/>
          </a:stretch>
        </p:blipFill>
        <p:spPr>
          <a:xfrm>
            <a:off x="1536192" y="1408176"/>
            <a:ext cx="256032" cy="256032"/>
          </a:xfrm>
          <a:prstGeom prst="rect">
            <a:avLst/>
          </a:prstGeom>
        </p:spPr>
      </p:pic>
      <p:sp>
        <p:nvSpPr>
          <p:cNvPr id="9" name="Text 6"/>
          <p:cNvSpPr/>
          <p:nvPr/>
        </p:nvSpPr>
        <p:spPr>
          <a:xfrm>
            <a:off x="438912" y="1828800"/>
            <a:ext cx="2450592" cy="36576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FastAPI Website</a:t>
            </a:r>
            <a:endParaRPr lang="en-US" sz="1300" dirty="0"/>
          </a:p>
        </p:txBody>
      </p:sp>
      <p:sp>
        <p:nvSpPr>
          <p:cNvPr id="10" name="Text 7"/>
          <p:cNvSpPr/>
          <p:nvPr/>
        </p:nvSpPr>
        <p:spPr>
          <a:xfrm>
            <a:off x="438912" y="2194560"/>
            <a:ext cx="2450592" cy="548640"/>
          </a:xfrm>
          <a:prstGeom prst="rect">
            <a:avLst/>
          </a:prstGeom>
          <a:noFill/>
          <a:ln/>
        </p:spPr>
        <p:txBody>
          <a:bodyPr wrap="square" lIns="0" tIns="0" rIns="0" bIns="0" rtlCol="0" anchor="ctr"/>
          <a:lstStyle/>
          <a:p>
            <a:pPr algn="ctr" indent="0" marL="0">
              <a:buNone/>
            </a:pPr>
            <a:r>
              <a:rPr lang="en-US" sz="950" dirty="0">
                <a:solidFill>
                  <a:srgbClr val="6B7F74"/>
                </a:solidFill>
                <a:latin typeface="Calibri" pitchFamily="34" charset="0"/>
                <a:ea typeface="Calibri" pitchFamily="34" charset="-122"/>
                <a:cs typeface="Calibri" pitchFamily="34" charset="-120"/>
              </a:rPr>
              <a:t>web_app.py</a:t>
            </a:r>
            <a:endParaRPr lang="en-US" sz="950" dirty="0"/>
          </a:p>
          <a:p>
            <a:pPr algn="ctr" indent="0" marL="0">
              <a:buNone/>
            </a:pPr>
            <a:r>
              <a:rPr lang="en-US" sz="950" dirty="0">
                <a:solidFill>
                  <a:srgbClr val="6B7F74"/>
                </a:solidFill>
                <a:latin typeface="Calibri" pitchFamily="34" charset="0"/>
                <a:ea typeface="Calibri" pitchFamily="34" charset="-122"/>
                <a:cs typeface="Calibri" pitchFamily="34" charset="-120"/>
              </a:rPr>
              <a:t>http://127.0.0.1:8000</a:t>
            </a:r>
            <a:endParaRPr lang="en-US" sz="950" dirty="0"/>
          </a:p>
        </p:txBody>
      </p:sp>
      <p:sp>
        <p:nvSpPr>
          <p:cNvPr id="11" name="Shape 8"/>
          <p:cNvSpPr/>
          <p:nvPr/>
        </p:nvSpPr>
        <p:spPr>
          <a:xfrm>
            <a:off x="3200400" y="1234440"/>
            <a:ext cx="2633472" cy="15544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2" name="Shape 9"/>
          <p:cNvSpPr/>
          <p:nvPr/>
        </p:nvSpPr>
        <p:spPr>
          <a:xfrm>
            <a:off x="4325112" y="1344168"/>
            <a:ext cx="384048" cy="384048"/>
          </a:xfrm>
          <a:prstGeom prst="ellipse">
            <a:avLst/>
          </a:prstGeom>
          <a:solidFill>
            <a:srgbClr val="3B6E52"/>
          </a:solidFill>
          <a:ln w="12700">
            <a:solidFill>
              <a:srgbClr val="3B6E52"/>
            </a:solidFill>
            <a:prstDash val="solid"/>
          </a:ln>
        </p:spPr>
      </p:sp>
      <p:pic>
        <p:nvPicPr>
          <p:cNvPr id="13" name="Image 1" descr="preencoded.png">    </p:cNvPr>
          <p:cNvPicPr>
            <a:picLocks noChangeAspect="1"/>
          </p:cNvPicPr>
          <p:nvPr/>
        </p:nvPicPr>
        <p:blipFill>
          <a:blip r:embed="rId2"/>
          <a:stretch>
            <a:fillRect/>
          </a:stretch>
        </p:blipFill>
        <p:spPr>
          <a:xfrm>
            <a:off x="4389120" y="1408176"/>
            <a:ext cx="256032" cy="256032"/>
          </a:xfrm>
          <a:prstGeom prst="rect">
            <a:avLst/>
          </a:prstGeom>
        </p:spPr>
      </p:pic>
      <p:sp>
        <p:nvSpPr>
          <p:cNvPr id="14" name="Text 10"/>
          <p:cNvSpPr/>
          <p:nvPr/>
        </p:nvSpPr>
        <p:spPr>
          <a:xfrm>
            <a:off x="3291840" y="1828800"/>
            <a:ext cx="2450592" cy="36576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CNN Classifier</a:t>
            </a:r>
            <a:endParaRPr lang="en-US" sz="1300" dirty="0"/>
          </a:p>
        </p:txBody>
      </p:sp>
      <p:sp>
        <p:nvSpPr>
          <p:cNvPr id="15" name="Text 11"/>
          <p:cNvSpPr/>
          <p:nvPr/>
        </p:nvSpPr>
        <p:spPr>
          <a:xfrm>
            <a:off x="3291840" y="2194560"/>
            <a:ext cx="2450592" cy="548640"/>
          </a:xfrm>
          <a:prstGeom prst="rect">
            <a:avLst/>
          </a:prstGeom>
          <a:noFill/>
          <a:ln/>
        </p:spPr>
        <p:txBody>
          <a:bodyPr wrap="square" lIns="0" tIns="0" rIns="0" bIns="0" rtlCol="0" anchor="ctr"/>
          <a:lstStyle/>
          <a:p>
            <a:pPr algn="ctr" indent="0" marL="0">
              <a:buNone/>
            </a:pPr>
            <a:r>
              <a:rPr lang="en-US" sz="950" dirty="0">
                <a:solidFill>
                  <a:srgbClr val="6B7F74"/>
                </a:solidFill>
                <a:latin typeface="Calibri" pitchFamily="34" charset="0"/>
                <a:ea typeface="Calibri" pitchFamily="34" charset="-122"/>
                <a:cs typeface="Calibri" pitchFamily="34" charset="-120"/>
              </a:rPr>
              <a:t>models/cnn_crop</a:t>
            </a:r>
            <a:endParaRPr lang="en-US" sz="950" dirty="0"/>
          </a:p>
          <a:p>
            <a:pPr algn="ctr" indent="0" marL="0">
              <a:buNone/>
            </a:pPr>
            <a:r>
              <a:rPr lang="en-US" sz="950" dirty="0">
                <a:solidFill>
                  <a:srgbClr val="6B7F74"/>
                </a:solidFill>
                <a:latin typeface="Calibri" pitchFamily="34" charset="0"/>
                <a:ea typeface="Calibri" pitchFamily="34" charset="-122"/>
                <a:cs typeface="Calibri" pitchFamily="34" charset="-120"/>
              </a:rPr>
              <a:t>_disease_model.pt</a:t>
            </a:r>
            <a:endParaRPr lang="en-US" sz="950" dirty="0"/>
          </a:p>
        </p:txBody>
      </p:sp>
      <p:sp>
        <p:nvSpPr>
          <p:cNvPr id="16" name="Shape 12"/>
          <p:cNvSpPr/>
          <p:nvPr/>
        </p:nvSpPr>
        <p:spPr>
          <a:xfrm>
            <a:off x="6053328" y="1234440"/>
            <a:ext cx="2633472" cy="15544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7" name="Shape 13"/>
          <p:cNvSpPr/>
          <p:nvPr/>
        </p:nvSpPr>
        <p:spPr>
          <a:xfrm>
            <a:off x="7178040" y="1344168"/>
            <a:ext cx="384048" cy="384048"/>
          </a:xfrm>
          <a:prstGeom prst="ellipse">
            <a:avLst/>
          </a:prstGeom>
          <a:solidFill>
            <a:srgbClr val="4A7C5A"/>
          </a:solidFill>
          <a:ln w="12700">
            <a:solidFill>
              <a:srgbClr val="4A7C5A"/>
            </a:solidFill>
            <a:prstDash val="solid"/>
          </a:ln>
        </p:spPr>
      </p:sp>
      <p:pic>
        <p:nvPicPr>
          <p:cNvPr id="18" name="Image 2" descr="preencoded.png">    </p:cNvPr>
          <p:cNvPicPr>
            <a:picLocks noChangeAspect="1"/>
          </p:cNvPicPr>
          <p:nvPr/>
        </p:nvPicPr>
        <p:blipFill>
          <a:blip r:embed="rId3"/>
          <a:stretch>
            <a:fillRect/>
          </a:stretch>
        </p:blipFill>
        <p:spPr>
          <a:xfrm>
            <a:off x="7242048" y="1408176"/>
            <a:ext cx="256032" cy="256032"/>
          </a:xfrm>
          <a:prstGeom prst="rect">
            <a:avLst/>
          </a:prstGeom>
        </p:spPr>
      </p:pic>
      <p:sp>
        <p:nvSpPr>
          <p:cNvPr id="19" name="Text 14"/>
          <p:cNvSpPr/>
          <p:nvPr/>
        </p:nvSpPr>
        <p:spPr>
          <a:xfrm>
            <a:off x="6144768" y="1828800"/>
            <a:ext cx="2450592" cy="36576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Knowledge Base</a:t>
            </a:r>
            <a:endParaRPr lang="en-US" sz="1300" dirty="0"/>
          </a:p>
        </p:txBody>
      </p:sp>
      <p:sp>
        <p:nvSpPr>
          <p:cNvPr id="20" name="Text 15"/>
          <p:cNvSpPr/>
          <p:nvPr/>
        </p:nvSpPr>
        <p:spPr>
          <a:xfrm>
            <a:off x="6144768" y="2194560"/>
            <a:ext cx="2450592" cy="548640"/>
          </a:xfrm>
          <a:prstGeom prst="rect">
            <a:avLst/>
          </a:prstGeom>
          <a:noFill/>
          <a:ln/>
        </p:spPr>
        <p:txBody>
          <a:bodyPr wrap="square" lIns="0" tIns="0" rIns="0" bIns="0" rtlCol="0" anchor="ctr"/>
          <a:lstStyle/>
          <a:p>
            <a:pPr algn="ctr" indent="0" marL="0">
              <a:buNone/>
            </a:pPr>
            <a:r>
              <a:rPr lang="en-US" sz="950" dirty="0">
                <a:solidFill>
                  <a:srgbClr val="6B7F74"/>
                </a:solidFill>
                <a:latin typeface="Calibri" pitchFamily="34" charset="0"/>
                <a:ea typeface="Calibri" pitchFamily="34" charset="-122"/>
                <a:cs typeface="Calibri" pitchFamily="34" charset="-120"/>
              </a:rPr>
              <a:t>advisory_knowledge</a:t>
            </a:r>
            <a:endParaRPr lang="en-US" sz="950" dirty="0"/>
          </a:p>
          <a:p>
            <a:pPr algn="ctr" indent="0" marL="0">
              <a:buNone/>
            </a:pPr>
            <a:r>
              <a:rPr lang="en-US" sz="950" dirty="0">
                <a:solidFill>
                  <a:srgbClr val="6B7F74"/>
                </a:solidFill>
                <a:latin typeface="Calibri" pitchFamily="34" charset="0"/>
                <a:ea typeface="Calibri" pitchFamily="34" charset="-122"/>
                <a:cs typeface="Calibri" pitchFamily="34" charset="-120"/>
              </a:rPr>
              <a:t>_base_large.json</a:t>
            </a:r>
            <a:endParaRPr lang="en-US" sz="950" dirty="0"/>
          </a:p>
        </p:txBody>
      </p:sp>
      <p:sp>
        <p:nvSpPr>
          <p:cNvPr id="21" name="Shape 16"/>
          <p:cNvSpPr/>
          <p:nvPr/>
        </p:nvSpPr>
        <p:spPr>
          <a:xfrm>
            <a:off x="347472" y="2971800"/>
            <a:ext cx="2633472" cy="15544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2" name="Shape 17"/>
          <p:cNvSpPr/>
          <p:nvPr/>
        </p:nvSpPr>
        <p:spPr>
          <a:xfrm>
            <a:off x="1472184" y="3081528"/>
            <a:ext cx="384048" cy="384048"/>
          </a:xfrm>
          <a:prstGeom prst="ellipse">
            <a:avLst/>
          </a:prstGeom>
          <a:solidFill>
            <a:srgbClr val="5A8A65"/>
          </a:solidFill>
          <a:ln w="12700">
            <a:solidFill>
              <a:srgbClr val="5A8A65"/>
            </a:solidFill>
            <a:prstDash val="solid"/>
          </a:ln>
        </p:spPr>
      </p:sp>
      <p:pic>
        <p:nvPicPr>
          <p:cNvPr id="23" name="Image 3" descr="preencoded.png">    </p:cNvPr>
          <p:cNvPicPr>
            <a:picLocks noChangeAspect="1"/>
          </p:cNvPicPr>
          <p:nvPr/>
        </p:nvPicPr>
        <p:blipFill>
          <a:blip r:embed="rId4"/>
          <a:stretch>
            <a:fillRect/>
          </a:stretch>
        </p:blipFill>
        <p:spPr>
          <a:xfrm>
            <a:off x="1536192" y="3145536"/>
            <a:ext cx="256032" cy="256032"/>
          </a:xfrm>
          <a:prstGeom prst="rect">
            <a:avLst/>
          </a:prstGeom>
        </p:spPr>
      </p:pic>
      <p:sp>
        <p:nvSpPr>
          <p:cNvPr id="24" name="Text 18"/>
          <p:cNvSpPr/>
          <p:nvPr/>
        </p:nvSpPr>
        <p:spPr>
          <a:xfrm>
            <a:off x="438912" y="3566160"/>
            <a:ext cx="2450592" cy="36576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RAG Pipeline</a:t>
            </a:r>
            <a:endParaRPr lang="en-US" sz="1300" dirty="0"/>
          </a:p>
        </p:txBody>
      </p:sp>
      <p:sp>
        <p:nvSpPr>
          <p:cNvPr id="25" name="Text 19"/>
          <p:cNvSpPr/>
          <p:nvPr/>
        </p:nvSpPr>
        <p:spPr>
          <a:xfrm>
            <a:off x="438912" y="3931920"/>
            <a:ext cx="2450592" cy="548640"/>
          </a:xfrm>
          <a:prstGeom prst="rect">
            <a:avLst/>
          </a:prstGeom>
          <a:noFill/>
          <a:ln/>
        </p:spPr>
        <p:txBody>
          <a:bodyPr wrap="square" lIns="0" tIns="0" rIns="0" bIns="0" rtlCol="0" anchor="ctr"/>
          <a:lstStyle/>
          <a:p>
            <a:pPr algn="ctr" indent="0" marL="0">
              <a:buNone/>
            </a:pPr>
            <a:r>
              <a:rPr lang="en-US" sz="950" dirty="0">
                <a:solidFill>
                  <a:srgbClr val="6B7F74"/>
                </a:solidFill>
                <a:latin typeface="Calibri" pitchFamily="34" charset="0"/>
                <a:ea typeface="Calibri" pitchFamily="34" charset="-122"/>
                <a:cs typeface="Calibri" pitchFamily="34" charset="-120"/>
              </a:rPr>
              <a:t>TF-IDF + Cosine</a:t>
            </a:r>
            <a:endParaRPr lang="en-US" sz="950" dirty="0"/>
          </a:p>
          <a:p>
            <a:pPr algn="ctr" indent="0" marL="0">
              <a:buNone/>
            </a:pPr>
            <a:r>
              <a:rPr lang="en-US" sz="950" dirty="0">
                <a:solidFill>
                  <a:srgbClr val="6B7F74"/>
                </a:solidFill>
                <a:latin typeface="Calibri" pitchFamily="34" charset="0"/>
                <a:ea typeface="Calibri" pitchFamily="34" charset="-122"/>
                <a:cs typeface="Calibri" pitchFamily="34" charset="-120"/>
              </a:rPr>
              <a:t>Similarity + Boost</a:t>
            </a:r>
            <a:endParaRPr lang="en-US" sz="950" dirty="0"/>
          </a:p>
        </p:txBody>
      </p:sp>
      <p:sp>
        <p:nvSpPr>
          <p:cNvPr id="26" name="Shape 20"/>
          <p:cNvSpPr/>
          <p:nvPr/>
        </p:nvSpPr>
        <p:spPr>
          <a:xfrm>
            <a:off x="3200400" y="2971800"/>
            <a:ext cx="2633472" cy="15544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7" name="Shape 21"/>
          <p:cNvSpPr/>
          <p:nvPr/>
        </p:nvSpPr>
        <p:spPr>
          <a:xfrm>
            <a:off x="4325112" y="3081528"/>
            <a:ext cx="384048" cy="384048"/>
          </a:xfrm>
          <a:prstGeom prst="ellipse">
            <a:avLst/>
          </a:prstGeom>
          <a:solidFill>
            <a:srgbClr val="6B9870"/>
          </a:solidFill>
          <a:ln w="12700">
            <a:solidFill>
              <a:srgbClr val="6B9870"/>
            </a:solidFill>
            <a:prstDash val="solid"/>
          </a:ln>
        </p:spPr>
      </p:sp>
      <p:pic>
        <p:nvPicPr>
          <p:cNvPr id="28" name="Image 4" descr="preencoded.png">    </p:cNvPr>
          <p:cNvPicPr>
            <a:picLocks noChangeAspect="1"/>
          </p:cNvPicPr>
          <p:nvPr/>
        </p:nvPicPr>
        <p:blipFill>
          <a:blip r:embed="rId5"/>
          <a:stretch>
            <a:fillRect/>
          </a:stretch>
        </p:blipFill>
        <p:spPr>
          <a:xfrm>
            <a:off x="4389120" y="3145536"/>
            <a:ext cx="256032" cy="256032"/>
          </a:xfrm>
          <a:prstGeom prst="rect">
            <a:avLst/>
          </a:prstGeom>
        </p:spPr>
      </p:pic>
      <p:sp>
        <p:nvSpPr>
          <p:cNvPr id="29" name="Text 22"/>
          <p:cNvSpPr/>
          <p:nvPr/>
        </p:nvSpPr>
        <p:spPr>
          <a:xfrm>
            <a:off x="3291840" y="3566160"/>
            <a:ext cx="2450592" cy="36576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OpenAI Advisory</a:t>
            </a:r>
            <a:endParaRPr lang="en-US" sz="1300" dirty="0"/>
          </a:p>
        </p:txBody>
      </p:sp>
      <p:sp>
        <p:nvSpPr>
          <p:cNvPr id="30" name="Text 23"/>
          <p:cNvSpPr/>
          <p:nvPr/>
        </p:nvSpPr>
        <p:spPr>
          <a:xfrm>
            <a:off x="3291840" y="3931920"/>
            <a:ext cx="2450592" cy="548640"/>
          </a:xfrm>
          <a:prstGeom prst="rect">
            <a:avLst/>
          </a:prstGeom>
          <a:noFill/>
          <a:ln/>
        </p:spPr>
        <p:txBody>
          <a:bodyPr wrap="square" lIns="0" tIns="0" rIns="0" bIns="0" rtlCol="0" anchor="ctr"/>
          <a:lstStyle/>
          <a:p>
            <a:pPr algn="ctr" indent="0" marL="0">
              <a:buNone/>
            </a:pPr>
            <a:r>
              <a:rPr lang="en-US" sz="950" dirty="0">
                <a:solidFill>
                  <a:srgbClr val="6B7F74"/>
                </a:solidFill>
                <a:latin typeface="Calibri" pitchFamily="34" charset="0"/>
                <a:ea typeface="Calibri" pitchFamily="34" charset="-122"/>
                <a:cs typeface="Calibri" pitchFamily="34" charset="-120"/>
              </a:rPr>
              <a:t>gpt-4o-mini</a:t>
            </a:r>
            <a:endParaRPr lang="en-US" sz="950" dirty="0"/>
          </a:p>
          <a:p>
            <a:pPr algn="ctr" indent="0" marL="0">
              <a:buNone/>
            </a:pPr>
            <a:r>
              <a:rPr lang="en-US" sz="950" dirty="0">
                <a:solidFill>
                  <a:srgbClr val="6B7F74"/>
                </a:solidFill>
                <a:latin typeface="Calibri" pitchFamily="34" charset="0"/>
                <a:ea typeface="Calibri" pitchFamily="34" charset="-122"/>
                <a:cs typeface="Calibri" pitchFamily="34" charset="-120"/>
              </a:rPr>
              <a:t>12-section report</a:t>
            </a:r>
            <a:endParaRPr lang="en-US" sz="950" dirty="0"/>
          </a:p>
        </p:txBody>
      </p:sp>
      <p:sp>
        <p:nvSpPr>
          <p:cNvPr id="31" name="Shape 24"/>
          <p:cNvSpPr/>
          <p:nvPr/>
        </p:nvSpPr>
        <p:spPr>
          <a:xfrm>
            <a:off x="6053328" y="2971800"/>
            <a:ext cx="2633472" cy="15544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2" name="Shape 25"/>
          <p:cNvSpPr/>
          <p:nvPr/>
        </p:nvSpPr>
        <p:spPr>
          <a:xfrm>
            <a:off x="7178040" y="3081528"/>
            <a:ext cx="384048" cy="384048"/>
          </a:xfrm>
          <a:prstGeom prst="ellipse">
            <a:avLst/>
          </a:prstGeom>
          <a:solidFill>
            <a:srgbClr val="7DA87C"/>
          </a:solidFill>
          <a:ln w="12700">
            <a:solidFill>
              <a:srgbClr val="7DA87C"/>
            </a:solidFill>
            <a:prstDash val="solid"/>
          </a:ln>
        </p:spPr>
      </p:sp>
      <p:pic>
        <p:nvPicPr>
          <p:cNvPr id="33" name="Image 5" descr="preencoded.png">    </p:cNvPr>
          <p:cNvPicPr>
            <a:picLocks noChangeAspect="1"/>
          </p:cNvPicPr>
          <p:nvPr/>
        </p:nvPicPr>
        <p:blipFill>
          <a:blip r:embed="rId6"/>
          <a:stretch>
            <a:fillRect/>
          </a:stretch>
        </p:blipFill>
        <p:spPr>
          <a:xfrm>
            <a:off x="7242048" y="3145536"/>
            <a:ext cx="256032" cy="256032"/>
          </a:xfrm>
          <a:prstGeom prst="rect">
            <a:avLst/>
          </a:prstGeom>
        </p:spPr>
      </p:pic>
      <p:sp>
        <p:nvSpPr>
          <p:cNvPr id="34" name="Text 26"/>
          <p:cNvSpPr/>
          <p:nvPr/>
        </p:nvSpPr>
        <p:spPr>
          <a:xfrm>
            <a:off x="6144768" y="3566160"/>
            <a:ext cx="2450592" cy="36576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Grad-CAM</a:t>
            </a:r>
            <a:endParaRPr lang="en-US" sz="1300" dirty="0"/>
          </a:p>
        </p:txBody>
      </p:sp>
      <p:sp>
        <p:nvSpPr>
          <p:cNvPr id="35" name="Text 27"/>
          <p:cNvSpPr/>
          <p:nvPr/>
        </p:nvSpPr>
        <p:spPr>
          <a:xfrm>
            <a:off x="6144768" y="3931920"/>
            <a:ext cx="2450592" cy="548640"/>
          </a:xfrm>
          <a:prstGeom prst="rect">
            <a:avLst/>
          </a:prstGeom>
          <a:noFill/>
          <a:ln/>
        </p:spPr>
        <p:txBody>
          <a:bodyPr wrap="square" lIns="0" tIns="0" rIns="0" bIns="0" rtlCol="0" anchor="ctr"/>
          <a:lstStyle/>
          <a:p>
            <a:pPr algn="ctr" indent="0" marL="0">
              <a:buNone/>
            </a:pPr>
            <a:r>
              <a:rPr lang="en-US" sz="950" dirty="0">
                <a:solidFill>
                  <a:srgbClr val="6B7F74"/>
                </a:solidFill>
                <a:latin typeface="Calibri" pitchFamily="34" charset="0"/>
                <a:ea typeface="Calibri" pitchFamily="34" charset="-122"/>
                <a:cs typeface="Calibri" pitchFamily="34" charset="-120"/>
              </a:rPr>
              <a:t>Final conv layer</a:t>
            </a:r>
            <a:endParaRPr lang="en-US" sz="950" dirty="0"/>
          </a:p>
          <a:p>
            <a:pPr algn="ctr" indent="0" marL="0">
              <a:buNone/>
            </a:pPr>
            <a:r>
              <a:rPr lang="en-US" sz="950" dirty="0">
                <a:solidFill>
                  <a:srgbClr val="6B7F74"/>
                </a:solidFill>
                <a:latin typeface="Calibri" pitchFamily="34" charset="0"/>
                <a:ea typeface="Calibri" pitchFamily="34" charset="-122"/>
                <a:cs typeface="Calibri" pitchFamily="34" charset="-120"/>
              </a:rPr>
              <a:t>Heatmap overlay</a:t>
            </a:r>
            <a:endParaRPr lang="en-US" sz="950" dirty="0"/>
          </a:p>
        </p:txBody>
      </p:sp>
      <p:sp>
        <p:nvSpPr>
          <p:cNvPr id="36" name="Shape 28"/>
          <p:cNvSpPr/>
          <p:nvPr/>
        </p:nvSpPr>
        <p:spPr>
          <a:xfrm>
            <a:off x="320040" y="4617720"/>
            <a:ext cx="8503920" cy="347472"/>
          </a:xfrm>
          <a:prstGeom prst="rect">
            <a:avLst/>
          </a:prstGeom>
          <a:solidFill>
            <a:srgbClr val="D4EDD9"/>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7" name="Text 29"/>
          <p:cNvSpPr/>
          <p:nvPr/>
        </p:nvSpPr>
        <p:spPr>
          <a:xfrm>
            <a:off x="411480" y="4636008"/>
            <a:ext cx="8321040" cy="292608"/>
          </a:xfrm>
          <a:prstGeom prst="rect">
            <a:avLst/>
          </a:prstGeom>
          <a:noFill/>
          <a:ln/>
        </p:spPr>
        <p:txBody>
          <a:bodyPr wrap="square" lIns="0" tIns="0" rIns="0" bIns="0" rtlCol="0" anchor="ctr"/>
          <a:lstStyle/>
          <a:p>
            <a:pPr algn="ctr" indent="0" marL="0">
              <a:buNone/>
            </a:pPr>
            <a:r>
              <a:rPr lang="en-US" sz="1000" dirty="0">
                <a:solidFill>
                  <a:srgbClr val="1A3C2B"/>
                </a:solidFill>
                <a:latin typeface="Calibri" pitchFamily="34" charset="0"/>
                <a:ea typeface="Calibri" pitchFamily="34" charset="-122"/>
                <a:cs typeface="Calibri" pitchFamily="34" charset="-120"/>
              </a:rPr>
              <a:t>Local Website: http://127.0.0.1:8000  |  GitHub: github.com/SohanVarma/AgriAssist-Completed</a:t>
            </a:r>
            <a:endParaRPr lang="en-US" sz="1000" dirty="0"/>
          </a:p>
        </p:txBody>
      </p:sp>
      <p:sp>
        <p:nvSpPr>
          <p:cNvPr id="38" name="Shape 30"/>
          <p:cNvSpPr/>
          <p:nvPr/>
        </p:nvSpPr>
        <p:spPr>
          <a:xfrm>
            <a:off x="6858000" y="4663440"/>
            <a:ext cx="2011680" cy="320040"/>
          </a:xfrm>
          <a:prstGeom prst="rect">
            <a:avLst/>
          </a:prstGeom>
          <a:solidFill>
            <a:srgbClr val="2C5F2D"/>
          </a:solidFill>
          <a:ln w="12700">
            <a:solidFill>
              <a:srgbClr val="2C5F2D"/>
            </a:solidFill>
            <a:prstDash val="solid"/>
          </a:ln>
        </p:spPr>
      </p:sp>
      <p:sp>
        <p:nvSpPr>
          <p:cNvPr id="39" name="Text 31"/>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Complete Architecture &amp; Pipeline</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How user input flows through AgriAssist</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097280"/>
            <a:ext cx="2651760" cy="365760"/>
          </a:xfrm>
          <a:prstGeom prst="rect">
            <a:avLst/>
          </a:prstGeom>
          <a:solidFill>
            <a:srgbClr val="2C5F2D"/>
          </a:solidFill>
          <a:ln w="12700">
            <a:solidFill>
              <a:srgbClr val="2C5F2D"/>
            </a:solidFill>
            <a:prstDash val="solid"/>
          </a:ln>
        </p:spPr>
      </p:sp>
      <p:sp>
        <p:nvSpPr>
          <p:cNvPr id="7" name="Text 5"/>
          <p:cNvSpPr/>
          <p:nvPr/>
        </p:nvSpPr>
        <p:spPr>
          <a:xfrm>
            <a:off x="320040" y="1097280"/>
            <a:ext cx="2651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Text Advisory Flow</a:t>
            </a:r>
            <a:endParaRPr lang="en-US" sz="1000" dirty="0"/>
          </a:p>
        </p:txBody>
      </p:sp>
      <p:sp>
        <p:nvSpPr>
          <p:cNvPr id="8" name="Shape 6"/>
          <p:cNvSpPr/>
          <p:nvPr/>
        </p:nvSpPr>
        <p:spPr>
          <a:xfrm>
            <a:off x="365760" y="1554480"/>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9" name="Text 7"/>
          <p:cNvSpPr/>
          <p:nvPr/>
        </p:nvSpPr>
        <p:spPr>
          <a:xfrm>
            <a:off x="393192" y="1581912"/>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User Types Query</a:t>
            </a:r>
            <a:endParaRPr lang="en-US" sz="950" dirty="0"/>
          </a:p>
        </p:txBody>
      </p:sp>
      <p:sp>
        <p:nvSpPr>
          <p:cNvPr id="10" name="Shape 8"/>
          <p:cNvSpPr/>
          <p:nvPr/>
        </p:nvSpPr>
        <p:spPr>
          <a:xfrm>
            <a:off x="1645920" y="2057400"/>
            <a:ext cx="0" cy="73152"/>
          </a:xfrm>
          <a:prstGeom prst="line">
            <a:avLst/>
          </a:prstGeom>
          <a:noFill/>
          <a:ln w="25400">
            <a:solidFill>
              <a:srgbClr val="2C5F2D"/>
            </a:solidFill>
            <a:prstDash val="solid"/>
          </a:ln>
        </p:spPr>
      </p:sp>
      <p:sp>
        <p:nvSpPr>
          <p:cNvPr id="11" name="Shape 9"/>
          <p:cNvSpPr/>
          <p:nvPr/>
        </p:nvSpPr>
        <p:spPr>
          <a:xfrm>
            <a:off x="365760" y="2130552"/>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393192" y="2157984"/>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POST /advisory</a:t>
            </a:r>
            <a:endParaRPr lang="en-US" sz="950" dirty="0"/>
          </a:p>
        </p:txBody>
      </p:sp>
      <p:sp>
        <p:nvSpPr>
          <p:cNvPr id="13" name="Shape 11"/>
          <p:cNvSpPr/>
          <p:nvPr/>
        </p:nvSpPr>
        <p:spPr>
          <a:xfrm>
            <a:off x="1645920" y="2633472"/>
            <a:ext cx="0" cy="73152"/>
          </a:xfrm>
          <a:prstGeom prst="line">
            <a:avLst/>
          </a:prstGeom>
          <a:noFill/>
          <a:ln w="25400">
            <a:solidFill>
              <a:srgbClr val="2C5F2D"/>
            </a:solidFill>
            <a:prstDash val="solid"/>
          </a:ln>
        </p:spPr>
      </p:sp>
      <p:sp>
        <p:nvSpPr>
          <p:cNvPr id="14" name="Shape 12"/>
          <p:cNvSpPr/>
          <p:nvPr/>
        </p:nvSpPr>
        <p:spPr>
          <a:xfrm>
            <a:off x="365760" y="2706624"/>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5" name="Text 13"/>
          <p:cNvSpPr/>
          <p:nvPr/>
        </p:nvSpPr>
        <p:spPr>
          <a:xfrm>
            <a:off x="393192" y="2734056"/>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RAG Pipeline</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(TF-IDF + Cosine +</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Keyword + Metadata)</a:t>
            </a:r>
            <a:endParaRPr lang="en-US" sz="950" dirty="0"/>
          </a:p>
        </p:txBody>
      </p:sp>
      <p:sp>
        <p:nvSpPr>
          <p:cNvPr id="16" name="Shape 14"/>
          <p:cNvSpPr/>
          <p:nvPr/>
        </p:nvSpPr>
        <p:spPr>
          <a:xfrm>
            <a:off x="1645920" y="3209544"/>
            <a:ext cx="0" cy="73152"/>
          </a:xfrm>
          <a:prstGeom prst="line">
            <a:avLst/>
          </a:prstGeom>
          <a:noFill/>
          <a:ln w="25400">
            <a:solidFill>
              <a:srgbClr val="2C5F2D"/>
            </a:solidFill>
            <a:prstDash val="solid"/>
          </a:ln>
        </p:spPr>
      </p:sp>
      <p:sp>
        <p:nvSpPr>
          <p:cNvPr id="17" name="Shape 15"/>
          <p:cNvSpPr/>
          <p:nvPr/>
        </p:nvSpPr>
        <p:spPr>
          <a:xfrm>
            <a:off x="365760" y="3282696"/>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8" name="Text 16"/>
          <p:cNvSpPr/>
          <p:nvPr/>
        </p:nvSpPr>
        <p:spPr>
          <a:xfrm>
            <a:off x="393192" y="3310128"/>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Top-K Documents</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Retrieved</a:t>
            </a:r>
            <a:endParaRPr lang="en-US" sz="950" dirty="0"/>
          </a:p>
        </p:txBody>
      </p:sp>
      <p:sp>
        <p:nvSpPr>
          <p:cNvPr id="19" name="Shape 17"/>
          <p:cNvSpPr/>
          <p:nvPr/>
        </p:nvSpPr>
        <p:spPr>
          <a:xfrm>
            <a:off x="1645920" y="3785616"/>
            <a:ext cx="0" cy="73152"/>
          </a:xfrm>
          <a:prstGeom prst="line">
            <a:avLst/>
          </a:prstGeom>
          <a:noFill/>
          <a:ln w="25400">
            <a:solidFill>
              <a:srgbClr val="2C5F2D"/>
            </a:solidFill>
            <a:prstDash val="solid"/>
          </a:ln>
        </p:spPr>
      </p:sp>
      <p:sp>
        <p:nvSpPr>
          <p:cNvPr id="20" name="Shape 18"/>
          <p:cNvSpPr/>
          <p:nvPr/>
        </p:nvSpPr>
        <p:spPr>
          <a:xfrm>
            <a:off x="365760" y="3858768"/>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1" name="Text 19"/>
          <p:cNvSpPr/>
          <p:nvPr/>
        </p:nvSpPr>
        <p:spPr>
          <a:xfrm>
            <a:off x="393192" y="3886200"/>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OpenAI Generates</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12-Section Advisory</a:t>
            </a:r>
            <a:endParaRPr lang="en-US" sz="950" dirty="0"/>
          </a:p>
        </p:txBody>
      </p:sp>
      <p:sp>
        <p:nvSpPr>
          <p:cNvPr id="22" name="Shape 20"/>
          <p:cNvSpPr/>
          <p:nvPr/>
        </p:nvSpPr>
        <p:spPr>
          <a:xfrm>
            <a:off x="1645920" y="4361688"/>
            <a:ext cx="0" cy="73152"/>
          </a:xfrm>
          <a:prstGeom prst="line">
            <a:avLst/>
          </a:prstGeom>
          <a:noFill/>
          <a:ln w="25400">
            <a:solidFill>
              <a:srgbClr val="2C5F2D"/>
            </a:solidFill>
            <a:prstDash val="solid"/>
          </a:ln>
        </p:spPr>
      </p:sp>
      <p:sp>
        <p:nvSpPr>
          <p:cNvPr id="23" name="Shape 21"/>
          <p:cNvSpPr/>
          <p:nvPr/>
        </p:nvSpPr>
        <p:spPr>
          <a:xfrm>
            <a:off x="365760" y="4434840"/>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4" name="Text 22"/>
          <p:cNvSpPr/>
          <p:nvPr/>
        </p:nvSpPr>
        <p:spPr>
          <a:xfrm>
            <a:off x="393192" y="4462272"/>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Website Displays</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Evidence + Advisory</a:t>
            </a:r>
            <a:endParaRPr lang="en-US" sz="950" dirty="0"/>
          </a:p>
        </p:txBody>
      </p:sp>
      <p:sp>
        <p:nvSpPr>
          <p:cNvPr id="25" name="Shape 23"/>
          <p:cNvSpPr/>
          <p:nvPr/>
        </p:nvSpPr>
        <p:spPr>
          <a:xfrm>
            <a:off x="3246120" y="1097280"/>
            <a:ext cx="2651760" cy="365760"/>
          </a:xfrm>
          <a:prstGeom prst="rect">
            <a:avLst/>
          </a:prstGeom>
          <a:solidFill>
            <a:srgbClr val="3D6B52"/>
          </a:solidFill>
          <a:ln w="12700">
            <a:solidFill>
              <a:srgbClr val="3D6B52"/>
            </a:solidFill>
            <a:prstDash val="solid"/>
          </a:ln>
        </p:spPr>
      </p:sp>
      <p:sp>
        <p:nvSpPr>
          <p:cNvPr id="26" name="Text 24"/>
          <p:cNvSpPr/>
          <p:nvPr/>
        </p:nvSpPr>
        <p:spPr>
          <a:xfrm>
            <a:off x="3246120" y="1097280"/>
            <a:ext cx="2651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Image Prediction Flow</a:t>
            </a:r>
            <a:endParaRPr lang="en-US" sz="1000" dirty="0"/>
          </a:p>
        </p:txBody>
      </p:sp>
      <p:sp>
        <p:nvSpPr>
          <p:cNvPr id="27" name="Shape 25"/>
          <p:cNvSpPr/>
          <p:nvPr/>
        </p:nvSpPr>
        <p:spPr>
          <a:xfrm>
            <a:off x="3291840" y="1554480"/>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8" name="Text 26"/>
          <p:cNvSpPr/>
          <p:nvPr/>
        </p:nvSpPr>
        <p:spPr>
          <a:xfrm>
            <a:off x="3319272" y="1581912"/>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User Uploads Image</a:t>
            </a:r>
            <a:endParaRPr lang="en-US" sz="950" dirty="0"/>
          </a:p>
        </p:txBody>
      </p:sp>
      <p:sp>
        <p:nvSpPr>
          <p:cNvPr id="29" name="Shape 27"/>
          <p:cNvSpPr/>
          <p:nvPr/>
        </p:nvSpPr>
        <p:spPr>
          <a:xfrm>
            <a:off x="4572000" y="2057400"/>
            <a:ext cx="0" cy="73152"/>
          </a:xfrm>
          <a:prstGeom prst="line">
            <a:avLst/>
          </a:prstGeom>
          <a:noFill/>
          <a:ln w="25400">
            <a:solidFill>
              <a:srgbClr val="3D6B52"/>
            </a:solidFill>
            <a:prstDash val="solid"/>
          </a:ln>
        </p:spPr>
      </p:sp>
      <p:sp>
        <p:nvSpPr>
          <p:cNvPr id="30" name="Shape 28"/>
          <p:cNvSpPr/>
          <p:nvPr/>
        </p:nvSpPr>
        <p:spPr>
          <a:xfrm>
            <a:off x="3291840" y="2130552"/>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1" name="Text 29"/>
          <p:cNvSpPr/>
          <p:nvPr/>
        </p:nvSpPr>
        <p:spPr>
          <a:xfrm>
            <a:off x="3319272" y="2157984"/>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POST /predict-image</a:t>
            </a:r>
            <a:endParaRPr lang="en-US" sz="950" dirty="0"/>
          </a:p>
        </p:txBody>
      </p:sp>
      <p:sp>
        <p:nvSpPr>
          <p:cNvPr id="32" name="Shape 30"/>
          <p:cNvSpPr/>
          <p:nvPr/>
        </p:nvSpPr>
        <p:spPr>
          <a:xfrm>
            <a:off x="4572000" y="2633472"/>
            <a:ext cx="0" cy="73152"/>
          </a:xfrm>
          <a:prstGeom prst="line">
            <a:avLst/>
          </a:prstGeom>
          <a:noFill/>
          <a:ln w="25400">
            <a:solidFill>
              <a:srgbClr val="3D6B52"/>
            </a:solidFill>
            <a:prstDash val="solid"/>
          </a:ln>
        </p:spPr>
      </p:sp>
      <p:sp>
        <p:nvSpPr>
          <p:cNvPr id="33" name="Shape 31"/>
          <p:cNvSpPr/>
          <p:nvPr/>
        </p:nvSpPr>
        <p:spPr>
          <a:xfrm>
            <a:off x="3291840" y="2706624"/>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4" name="Text 32"/>
          <p:cNvSpPr/>
          <p:nvPr/>
        </p:nvSpPr>
        <p:spPr>
          <a:xfrm>
            <a:off x="3319272" y="2734056"/>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CNN Predicts</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Disease + Confidence</a:t>
            </a:r>
            <a:endParaRPr lang="en-US" sz="950" dirty="0"/>
          </a:p>
        </p:txBody>
      </p:sp>
      <p:sp>
        <p:nvSpPr>
          <p:cNvPr id="35" name="Shape 33"/>
          <p:cNvSpPr/>
          <p:nvPr/>
        </p:nvSpPr>
        <p:spPr>
          <a:xfrm>
            <a:off x="4572000" y="3209544"/>
            <a:ext cx="0" cy="73152"/>
          </a:xfrm>
          <a:prstGeom prst="line">
            <a:avLst/>
          </a:prstGeom>
          <a:noFill/>
          <a:ln w="25400">
            <a:solidFill>
              <a:srgbClr val="3D6B52"/>
            </a:solidFill>
            <a:prstDash val="solid"/>
          </a:ln>
        </p:spPr>
      </p:sp>
      <p:sp>
        <p:nvSpPr>
          <p:cNvPr id="36" name="Shape 34"/>
          <p:cNvSpPr/>
          <p:nvPr/>
        </p:nvSpPr>
        <p:spPr>
          <a:xfrm>
            <a:off x="3291840" y="3282696"/>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7" name="Text 35"/>
          <p:cNvSpPr/>
          <p:nvPr/>
        </p:nvSpPr>
        <p:spPr>
          <a:xfrm>
            <a:off x="3319272" y="3310128"/>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Prediction → RAG</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Query</a:t>
            </a:r>
            <a:endParaRPr lang="en-US" sz="950" dirty="0"/>
          </a:p>
        </p:txBody>
      </p:sp>
      <p:sp>
        <p:nvSpPr>
          <p:cNvPr id="38" name="Shape 36"/>
          <p:cNvSpPr/>
          <p:nvPr/>
        </p:nvSpPr>
        <p:spPr>
          <a:xfrm>
            <a:off x="4572000" y="3785616"/>
            <a:ext cx="0" cy="73152"/>
          </a:xfrm>
          <a:prstGeom prst="line">
            <a:avLst/>
          </a:prstGeom>
          <a:noFill/>
          <a:ln w="25400">
            <a:solidFill>
              <a:srgbClr val="3D6B52"/>
            </a:solidFill>
            <a:prstDash val="solid"/>
          </a:ln>
        </p:spPr>
      </p:sp>
      <p:sp>
        <p:nvSpPr>
          <p:cNvPr id="39" name="Shape 37"/>
          <p:cNvSpPr/>
          <p:nvPr/>
        </p:nvSpPr>
        <p:spPr>
          <a:xfrm>
            <a:off x="3291840" y="3858768"/>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40" name="Text 38"/>
          <p:cNvSpPr/>
          <p:nvPr/>
        </p:nvSpPr>
        <p:spPr>
          <a:xfrm>
            <a:off x="3319272" y="3886200"/>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OpenAI Generates</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Advisory</a:t>
            </a:r>
            <a:endParaRPr lang="en-US" sz="950" dirty="0"/>
          </a:p>
        </p:txBody>
      </p:sp>
      <p:sp>
        <p:nvSpPr>
          <p:cNvPr id="41" name="Shape 39"/>
          <p:cNvSpPr/>
          <p:nvPr/>
        </p:nvSpPr>
        <p:spPr>
          <a:xfrm>
            <a:off x="4572000" y="4361688"/>
            <a:ext cx="0" cy="73152"/>
          </a:xfrm>
          <a:prstGeom prst="line">
            <a:avLst/>
          </a:prstGeom>
          <a:noFill/>
          <a:ln w="25400">
            <a:solidFill>
              <a:srgbClr val="3D6B52"/>
            </a:solidFill>
            <a:prstDash val="solid"/>
          </a:ln>
        </p:spPr>
      </p:sp>
      <p:sp>
        <p:nvSpPr>
          <p:cNvPr id="42" name="Shape 40"/>
          <p:cNvSpPr/>
          <p:nvPr/>
        </p:nvSpPr>
        <p:spPr>
          <a:xfrm>
            <a:off x="3291840" y="4434840"/>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43" name="Text 41"/>
          <p:cNvSpPr/>
          <p:nvPr/>
        </p:nvSpPr>
        <p:spPr>
          <a:xfrm>
            <a:off x="3319272" y="4462272"/>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Website Shows</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Prediction + Advisory</a:t>
            </a:r>
            <a:endParaRPr lang="en-US" sz="950" dirty="0"/>
          </a:p>
        </p:txBody>
      </p:sp>
      <p:sp>
        <p:nvSpPr>
          <p:cNvPr id="44" name="Shape 42"/>
          <p:cNvSpPr/>
          <p:nvPr/>
        </p:nvSpPr>
        <p:spPr>
          <a:xfrm>
            <a:off x="6172200" y="1097280"/>
            <a:ext cx="2651760" cy="365760"/>
          </a:xfrm>
          <a:prstGeom prst="rect">
            <a:avLst/>
          </a:prstGeom>
          <a:solidFill>
            <a:srgbClr val="5A8060"/>
          </a:solidFill>
          <a:ln w="12700">
            <a:solidFill>
              <a:srgbClr val="5A8060"/>
            </a:solidFill>
            <a:prstDash val="solid"/>
          </a:ln>
        </p:spPr>
      </p:sp>
      <p:sp>
        <p:nvSpPr>
          <p:cNvPr id="45" name="Text 43"/>
          <p:cNvSpPr/>
          <p:nvPr/>
        </p:nvSpPr>
        <p:spPr>
          <a:xfrm>
            <a:off x="6172200" y="1097280"/>
            <a:ext cx="2651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Grad-CAM Flow</a:t>
            </a:r>
            <a:endParaRPr lang="en-US" sz="1000" dirty="0"/>
          </a:p>
        </p:txBody>
      </p:sp>
      <p:sp>
        <p:nvSpPr>
          <p:cNvPr id="46" name="Shape 44"/>
          <p:cNvSpPr/>
          <p:nvPr/>
        </p:nvSpPr>
        <p:spPr>
          <a:xfrm>
            <a:off x="6217920" y="1554480"/>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47" name="Text 45"/>
          <p:cNvSpPr/>
          <p:nvPr/>
        </p:nvSpPr>
        <p:spPr>
          <a:xfrm>
            <a:off x="6245352" y="1581912"/>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User Uploads Image</a:t>
            </a:r>
            <a:endParaRPr lang="en-US" sz="950" dirty="0"/>
          </a:p>
        </p:txBody>
      </p:sp>
      <p:sp>
        <p:nvSpPr>
          <p:cNvPr id="48" name="Shape 46"/>
          <p:cNvSpPr/>
          <p:nvPr/>
        </p:nvSpPr>
        <p:spPr>
          <a:xfrm>
            <a:off x="7498080" y="2057400"/>
            <a:ext cx="0" cy="73152"/>
          </a:xfrm>
          <a:prstGeom prst="line">
            <a:avLst/>
          </a:prstGeom>
          <a:noFill/>
          <a:ln w="25400">
            <a:solidFill>
              <a:srgbClr val="5A8060"/>
            </a:solidFill>
            <a:prstDash val="solid"/>
          </a:ln>
        </p:spPr>
      </p:sp>
      <p:sp>
        <p:nvSpPr>
          <p:cNvPr id="49" name="Shape 47"/>
          <p:cNvSpPr/>
          <p:nvPr/>
        </p:nvSpPr>
        <p:spPr>
          <a:xfrm>
            <a:off x="6217920" y="2130552"/>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50" name="Text 48"/>
          <p:cNvSpPr/>
          <p:nvPr/>
        </p:nvSpPr>
        <p:spPr>
          <a:xfrm>
            <a:off x="6245352" y="2157984"/>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POST /gradcam</a:t>
            </a:r>
            <a:endParaRPr lang="en-US" sz="950" dirty="0"/>
          </a:p>
        </p:txBody>
      </p:sp>
      <p:sp>
        <p:nvSpPr>
          <p:cNvPr id="51" name="Shape 49"/>
          <p:cNvSpPr/>
          <p:nvPr/>
        </p:nvSpPr>
        <p:spPr>
          <a:xfrm>
            <a:off x="7498080" y="2633472"/>
            <a:ext cx="0" cy="73152"/>
          </a:xfrm>
          <a:prstGeom prst="line">
            <a:avLst/>
          </a:prstGeom>
          <a:noFill/>
          <a:ln w="25400">
            <a:solidFill>
              <a:srgbClr val="5A8060"/>
            </a:solidFill>
            <a:prstDash val="solid"/>
          </a:ln>
        </p:spPr>
      </p:sp>
      <p:sp>
        <p:nvSpPr>
          <p:cNvPr id="52" name="Shape 50"/>
          <p:cNvSpPr/>
          <p:nvPr/>
        </p:nvSpPr>
        <p:spPr>
          <a:xfrm>
            <a:off x="6217920" y="2706624"/>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53" name="Text 51"/>
          <p:cNvSpPr/>
          <p:nvPr/>
        </p:nvSpPr>
        <p:spPr>
          <a:xfrm>
            <a:off x="6245352" y="2734056"/>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CNN Forward Pass</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 Prediction</a:t>
            </a:r>
            <a:endParaRPr lang="en-US" sz="950" dirty="0"/>
          </a:p>
        </p:txBody>
      </p:sp>
      <p:sp>
        <p:nvSpPr>
          <p:cNvPr id="54" name="Shape 52"/>
          <p:cNvSpPr/>
          <p:nvPr/>
        </p:nvSpPr>
        <p:spPr>
          <a:xfrm>
            <a:off x="7498080" y="3209544"/>
            <a:ext cx="0" cy="73152"/>
          </a:xfrm>
          <a:prstGeom prst="line">
            <a:avLst/>
          </a:prstGeom>
          <a:noFill/>
          <a:ln w="25400">
            <a:solidFill>
              <a:srgbClr val="5A8060"/>
            </a:solidFill>
            <a:prstDash val="solid"/>
          </a:ln>
        </p:spPr>
      </p:sp>
      <p:sp>
        <p:nvSpPr>
          <p:cNvPr id="55" name="Shape 53"/>
          <p:cNvSpPr/>
          <p:nvPr/>
        </p:nvSpPr>
        <p:spPr>
          <a:xfrm>
            <a:off x="6217920" y="3282696"/>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56" name="Text 54"/>
          <p:cNvSpPr/>
          <p:nvPr/>
        </p:nvSpPr>
        <p:spPr>
          <a:xfrm>
            <a:off x="6245352" y="3310128"/>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Gradients from</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Final Conv Layer</a:t>
            </a:r>
            <a:endParaRPr lang="en-US" sz="950" dirty="0"/>
          </a:p>
        </p:txBody>
      </p:sp>
      <p:sp>
        <p:nvSpPr>
          <p:cNvPr id="57" name="Shape 55"/>
          <p:cNvSpPr/>
          <p:nvPr/>
        </p:nvSpPr>
        <p:spPr>
          <a:xfrm>
            <a:off x="7498080" y="3785616"/>
            <a:ext cx="0" cy="73152"/>
          </a:xfrm>
          <a:prstGeom prst="line">
            <a:avLst/>
          </a:prstGeom>
          <a:noFill/>
          <a:ln w="25400">
            <a:solidFill>
              <a:srgbClr val="5A8060"/>
            </a:solidFill>
            <a:prstDash val="solid"/>
          </a:ln>
        </p:spPr>
      </p:sp>
      <p:sp>
        <p:nvSpPr>
          <p:cNvPr id="58" name="Shape 56"/>
          <p:cNvSpPr/>
          <p:nvPr/>
        </p:nvSpPr>
        <p:spPr>
          <a:xfrm>
            <a:off x="6217920" y="3858768"/>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59" name="Text 57"/>
          <p:cNvSpPr/>
          <p:nvPr/>
        </p:nvSpPr>
        <p:spPr>
          <a:xfrm>
            <a:off x="6245352" y="3886200"/>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Heatmap</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Generated</a:t>
            </a:r>
            <a:endParaRPr lang="en-US" sz="950" dirty="0"/>
          </a:p>
        </p:txBody>
      </p:sp>
      <p:sp>
        <p:nvSpPr>
          <p:cNvPr id="60" name="Shape 58"/>
          <p:cNvSpPr/>
          <p:nvPr/>
        </p:nvSpPr>
        <p:spPr>
          <a:xfrm>
            <a:off x="7498080" y="4361688"/>
            <a:ext cx="0" cy="73152"/>
          </a:xfrm>
          <a:prstGeom prst="line">
            <a:avLst/>
          </a:prstGeom>
          <a:noFill/>
          <a:ln w="25400">
            <a:solidFill>
              <a:srgbClr val="5A8060"/>
            </a:solidFill>
            <a:prstDash val="solid"/>
          </a:ln>
        </p:spPr>
      </p:sp>
      <p:sp>
        <p:nvSpPr>
          <p:cNvPr id="61" name="Shape 59"/>
          <p:cNvSpPr/>
          <p:nvPr/>
        </p:nvSpPr>
        <p:spPr>
          <a:xfrm>
            <a:off x="6217920" y="4434840"/>
            <a:ext cx="2560320" cy="5029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62" name="Text 60"/>
          <p:cNvSpPr/>
          <p:nvPr/>
        </p:nvSpPr>
        <p:spPr>
          <a:xfrm>
            <a:off x="6245352" y="4462272"/>
            <a:ext cx="2505456" cy="448056"/>
          </a:xfrm>
          <a:prstGeom prst="rect">
            <a:avLst/>
          </a:prstGeom>
          <a:noFill/>
          <a:ln/>
        </p:spPr>
        <p:txBody>
          <a:bodyPr wrap="square" lIns="25400" tIns="25400" rIns="25400" bIns="25400" rtlCol="0" anchor="ctr"/>
          <a:lstStyle/>
          <a:p>
            <a:pPr algn="ctr" indent="0" marL="0">
              <a:buNone/>
            </a:pPr>
            <a:r>
              <a:rPr lang="en-US" sz="950" dirty="0">
                <a:solidFill>
                  <a:srgbClr val="1A3C2B"/>
                </a:solidFill>
                <a:latin typeface="Calibri" pitchFamily="34" charset="0"/>
                <a:ea typeface="Calibri" pitchFamily="34" charset="-122"/>
                <a:cs typeface="Calibri" pitchFamily="34" charset="-120"/>
              </a:rPr>
              <a:t>Website Shows</a:t>
            </a:r>
            <a:endParaRPr lang="en-US" sz="950" dirty="0"/>
          </a:p>
          <a:p>
            <a:pPr algn="ctr" indent="0" marL="0">
              <a:buNone/>
            </a:pPr>
            <a:r>
              <a:rPr lang="en-US" sz="950" dirty="0">
                <a:solidFill>
                  <a:srgbClr val="1A3C2B"/>
                </a:solidFill>
                <a:latin typeface="Calibri" pitchFamily="34" charset="0"/>
                <a:ea typeface="Calibri" pitchFamily="34" charset="-122"/>
                <a:cs typeface="Calibri" pitchFamily="34" charset="-120"/>
              </a:rPr>
              <a:t>Image + Heatmap</a:t>
            </a:r>
            <a:endParaRPr lang="en-US" sz="950" dirty="0"/>
          </a:p>
        </p:txBody>
      </p:sp>
      <p:sp>
        <p:nvSpPr>
          <p:cNvPr id="63" name="Shape 61"/>
          <p:cNvSpPr/>
          <p:nvPr/>
        </p:nvSpPr>
        <p:spPr>
          <a:xfrm>
            <a:off x="6858000" y="4663440"/>
            <a:ext cx="2011680" cy="320040"/>
          </a:xfrm>
          <a:prstGeom prst="rect">
            <a:avLst/>
          </a:prstGeom>
          <a:solidFill>
            <a:srgbClr val="2C5F2D"/>
          </a:solidFill>
          <a:ln w="12700">
            <a:solidFill>
              <a:srgbClr val="2C5F2D"/>
            </a:solidFill>
            <a:prstDash val="solid"/>
          </a:ln>
        </p:spPr>
      </p:sp>
      <p:sp>
        <p:nvSpPr>
          <p:cNvPr id="64" name="Text 62"/>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Dataset &amp; Preprocessing</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Image data for CNN · Text/PDF data for RAG</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88720"/>
            <a:ext cx="4160520" cy="36118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188720"/>
            <a:ext cx="4160520" cy="411480"/>
          </a:xfrm>
          <a:prstGeom prst="rect">
            <a:avLst/>
          </a:prstGeom>
          <a:solidFill>
            <a:srgbClr val="2C5F2D"/>
          </a:solidFill>
          <a:ln w="12700">
            <a:solidFill>
              <a:srgbClr val="2C5F2D"/>
            </a:solidFill>
            <a:prstDash val="solid"/>
          </a:ln>
        </p:spPr>
      </p:sp>
      <p:sp>
        <p:nvSpPr>
          <p:cNvPr id="8" name="Shape 6"/>
          <p:cNvSpPr/>
          <p:nvPr/>
        </p:nvSpPr>
        <p:spPr>
          <a:xfrm>
            <a:off x="438912" y="1252728"/>
            <a:ext cx="384048" cy="384048"/>
          </a:xfrm>
          <a:prstGeom prst="ellipse">
            <a:avLst/>
          </a:prstGeom>
          <a:solidFill>
            <a:srgbClr val="2C5F2D"/>
          </a:solidFill>
          <a:ln w="12700">
            <a:solidFill>
              <a:srgbClr val="2C5F2D"/>
            </a:solidFill>
            <a:prstDash val="solid"/>
          </a:ln>
        </p:spPr>
      </p:sp>
      <p:pic>
        <p:nvPicPr>
          <p:cNvPr id="9" name="Image 0" descr="preencoded.png">    </p:cNvPr>
          <p:cNvPicPr>
            <a:picLocks noChangeAspect="1"/>
          </p:cNvPicPr>
          <p:nvPr/>
        </p:nvPicPr>
        <p:blipFill>
          <a:blip r:embed="rId1"/>
          <a:stretch>
            <a:fillRect/>
          </a:stretch>
        </p:blipFill>
        <p:spPr>
          <a:xfrm>
            <a:off x="502920" y="1316736"/>
            <a:ext cx="256032" cy="256032"/>
          </a:xfrm>
          <a:prstGeom prst="rect">
            <a:avLst/>
          </a:prstGeom>
        </p:spPr>
      </p:pic>
      <p:sp>
        <p:nvSpPr>
          <p:cNvPr id="10" name="Text 7"/>
          <p:cNvSpPr/>
          <p:nvPr/>
        </p:nvSpPr>
        <p:spPr>
          <a:xfrm>
            <a:off x="896112" y="1252728"/>
            <a:ext cx="34747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Image Dataset (CNN)</a:t>
            </a:r>
            <a:endParaRPr lang="en-US" sz="1300" dirty="0"/>
          </a:p>
        </p:txBody>
      </p:sp>
      <p:sp>
        <p:nvSpPr>
          <p:cNvPr id="11" name="Text 8"/>
          <p:cNvSpPr/>
          <p:nvPr/>
        </p:nvSpPr>
        <p:spPr>
          <a:xfrm>
            <a:off x="457200" y="1691640"/>
            <a:ext cx="3886200" cy="3017520"/>
          </a:xfrm>
          <a:prstGeom prst="rect">
            <a:avLst/>
          </a:prstGeom>
          <a:noFill/>
          <a:ln/>
        </p:spPr>
        <p:txBody>
          <a:bodyPr wrap="square" lIns="50800" tIns="50800" rIns="50800" bIns="5080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1. Images organized by class folders (one folder = one disease class)</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2. Images converted to RGB format</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3. Resized to fixed input dimensions (e.g. 224×224)</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4. Converted to PyTorch tensors</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5. Labels derived automatically from folder names</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6. Dataset split into training and test sets</a:t>
            </a:r>
            <a:endParaRPr lang="en-US" sz="1100" dirty="0"/>
          </a:p>
        </p:txBody>
      </p:sp>
      <p:sp>
        <p:nvSpPr>
          <p:cNvPr id="12" name="Shape 9"/>
          <p:cNvSpPr/>
          <p:nvPr/>
        </p:nvSpPr>
        <p:spPr>
          <a:xfrm>
            <a:off x="4663440" y="1188720"/>
            <a:ext cx="4160520" cy="36118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3" name="Shape 10"/>
          <p:cNvSpPr/>
          <p:nvPr/>
        </p:nvSpPr>
        <p:spPr>
          <a:xfrm>
            <a:off x="4663440" y="1188720"/>
            <a:ext cx="4160520" cy="411480"/>
          </a:xfrm>
          <a:prstGeom prst="rect">
            <a:avLst/>
          </a:prstGeom>
          <a:solidFill>
            <a:srgbClr val="3D6B52"/>
          </a:solidFill>
          <a:ln w="12700">
            <a:solidFill>
              <a:srgbClr val="3D6B52"/>
            </a:solidFill>
            <a:prstDash val="solid"/>
          </a:ln>
        </p:spPr>
      </p:sp>
      <p:sp>
        <p:nvSpPr>
          <p:cNvPr id="14" name="Shape 11"/>
          <p:cNvSpPr/>
          <p:nvPr/>
        </p:nvSpPr>
        <p:spPr>
          <a:xfrm>
            <a:off x="4782312" y="1252728"/>
            <a:ext cx="384048" cy="384048"/>
          </a:xfrm>
          <a:prstGeom prst="ellipse">
            <a:avLst/>
          </a:prstGeom>
          <a:solidFill>
            <a:srgbClr val="3D6B52"/>
          </a:solidFill>
          <a:ln w="12700">
            <a:solidFill>
              <a:srgbClr val="3D6B52"/>
            </a:solidFill>
            <a:prstDash val="solid"/>
          </a:ln>
        </p:spPr>
      </p:sp>
      <p:pic>
        <p:nvPicPr>
          <p:cNvPr id="15" name="Image 1" descr="preencoded.png">    </p:cNvPr>
          <p:cNvPicPr>
            <a:picLocks noChangeAspect="1"/>
          </p:cNvPicPr>
          <p:nvPr/>
        </p:nvPicPr>
        <p:blipFill>
          <a:blip r:embed="rId2"/>
          <a:stretch>
            <a:fillRect/>
          </a:stretch>
        </p:blipFill>
        <p:spPr>
          <a:xfrm>
            <a:off x="4846320" y="1316736"/>
            <a:ext cx="256032" cy="256032"/>
          </a:xfrm>
          <a:prstGeom prst="rect">
            <a:avLst/>
          </a:prstGeom>
        </p:spPr>
      </p:pic>
      <p:sp>
        <p:nvSpPr>
          <p:cNvPr id="16" name="Text 12"/>
          <p:cNvSpPr/>
          <p:nvPr/>
        </p:nvSpPr>
        <p:spPr>
          <a:xfrm>
            <a:off x="5239512" y="1252728"/>
            <a:ext cx="34747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Knowledge Base (RAG)</a:t>
            </a:r>
            <a:endParaRPr lang="en-US" sz="1300" dirty="0"/>
          </a:p>
        </p:txBody>
      </p:sp>
      <p:sp>
        <p:nvSpPr>
          <p:cNvPr id="17" name="Text 13"/>
          <p:cNvSpPr/>
          <p:nvPr/>
        </p:nvSpPr>
        <p:spPr>
          <a:xfrm>
            <a:off x="4754880" y="1691640"/>
            <a:ext cx="3977640" cy="3017520"/>
          </a:xfrm>
          <a:prstGeom prst="rect">
            <a:avLst/>
          </a:prstGeom>
          <a:noFill/>
          <a:ln/>
        </p:spPr>
        <p:txBody>
          <a:bodyPr wrap="square" lIns="50800" tIns="50800" rIns="50800" bIns="5080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1. Raw farmer advisory dataset records</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2. Expert advisory JSON records (crop, problem, region, season, urgency…)</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3. Agricultural PDF documents: text extracted, cleaned, and chunked</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4. Each chunk structured as a RAG record with metadata</a:t>
            </a:r>
            <a:endParaRPr lang="en-US" sz="1100" dirty="0"/>
          </a:p>
          <a:p>
            <a:pPr indent="0" marL="0">
              <a:buNone/>
            </a:pPr>
            <a:r>
              <a:rPr lang="en-US" sz="1100" dirty="0">
                <a:solidFill>
                  <a:srgbClr val="3B5249"/>
                </a:solidFill>
                <a:latin typeface="Calibri" pitchFamily="34" charset="0"/>
                <a:ea typeface="Calibri" pitchFamily="34" charset="-122"/>
                <a:cs typeface="Calibri" pitchFamily="34" charset="-120"/>
              </a:rPr>
              <a:t>5. All sources merged into advisory_knowledge_base_large.json</a:t>
            </a:r>
            <a:endParaRPr lang="en-US" sz="1100" dirty="0"/>
          </a:p>
        </p:txBody>
      </p:sp>
      <p:sp>
        <p:nvSpPr>
          <p:cNvPr id="18" name="Shape 14"/>
          <p:cNvSpPr/>
          <p:nvPr/>
        </p:nvSpPr>
        <p:spPr>
          <a:xfrm>
            <a:off x="6858000" y="4663440"/>
            <a:ext cx="2011680" cy="320040"/>
          </a:xfrm>
          <a:prstGeom prst="rect">
            <a:avLst/>
          </a:prstGeom>
          <a:solidFill>
            <a:srgbClr val="2C5F2D"/>
          </a:solidFill>
          <a:ln w="12700">
            <a:solidFill>
              <a:srgbClr val="2C5F2D"/>
            </a:solidFill>
            <a:prstDash val="solid"/>
          </a:ln>
        </p:spPr>
      </p:sp>
      <p:sp>
        <p:nvSpPr>
          <p:cNvPr id="19" name="Text 15"/>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1 / Speaker 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CNN Crop Disease Classification</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Speaker 1 — Model training and prediction</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88720"/>
            <a:ext cx="5029200" cy="32004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Text 5"/>
          <p:cNvSpPr/>
          <p:nvPr/>
        </p:nvSpPr>
        <p:spPr>
          <a:xfrm>
            <a:off x="457200" y="1261872"/>
            <a:ext cx="4754880" cy="347472"/>
          </a:xfrm>
          <a:prstGeom prst="rect">
            <a:avLst/>
          </a:prstGeom>
          <a:noFill/>
          <a:ln/>
        </p:spPr>
        <p:txBody>
          <a:bodyPr wrap="square" lIns="0" tIns="0" rIns="0" bIns="0" rtlCol="0" anchor="ctr"/>
          <a:lstStyle/>
          <a:p>
            <a:pPr indent="0" marL="0">
              <a:buNone/>
            </a:pPr>
            <a:r>
              <a:rPr lang="en-US" sz="1400" b="1" dirty="0">
                <a:solidFill>
                  <a:srgbClr val="1A3C2B"/>
                </a:solidFill>
                <a:latin typeface="Calibri" pitchFamily="34" charset="0"/>
                <a:ea typeface="Calibri" pitchFamily="34" charset="-122"/>
                <a:cs typeface="Calibri" pitchFamily="34" charset="-120"/>
              </a:rPr>
              <a:t>Training Process</a:t>
            </a:r>
            <a:endParaRPr lang="en-US" sz="1400" dirty="0"/>
          </a:p>
        </p:txBody>
      </p:sp>
      <p:sp>
        <p:nvSpPr>
          <p:cNvPr id="8" name="Text 6"/>
          <p:cNvSpPr/>
          <p:nvPr/>
        </p:nvSpPr>
        <p:spPr>
          <a:xfrm>
            <a:off x="457200" y="1645920"/>
            <a:ext cx="4754880" cy="2651760"/>
          </a:xfrm>
          <a:prstGeom prst="rect">
            <a:avLst/>
          </a:prstGeom>
          <a:noFill/>
          <a:ln/>
        </p:spPr>
        <p:txBody>
          <a:bodyPr wrap="square" lIns="50800" tIns="50800" rIns="50800" bIns="50800" rtlCol="0" anchor="ctr"/>
          <a:lstStyle/>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Input: Labeled crop disease images organized by class folders</a:t>
            </a:r>
            <a:endParaRPr lang="en-US" sz="1100" dirty="0"/>
          </a:p>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Model learns visual patterns: leaf spots, discoloration, blight, curled leaves, mold, healthy structures</a:t>
            </a:r>
            <a:endParaRPr lang="en-US" sz="1100" dirty="0"/>
          </a:p>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Weights updated via backpropagation using cross-entropy classification loss</a:t>
            </a:r>
            <a:endParaRPr lang="en-US" sz="1100" dirty="0"/>
          </a:p>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Training script: src/03_train_initial_model.py</a:t>
            </a:r>
            <a:endParaRPr lang="en-US" sz="1100" dirty="0"/>
          </a:p>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Saved model: models/cnn_crop_disease_model.pt</a:t>
            </a:r>
            <a:endParaRPr lang="en-US" sz="1100" dirty="0"/>
          </a:p>
        </p:txBody>
      </p:sp>
      <p:sp>
        <p:nvSpPr>
          <p:cNvPr id="9" name="Shape 7"/>
          <p:cNvSpPr/>
          <p:nvPr/>
        </p:nvSpPr>
        <p:spPr>
          <a:xfrm>
            <a:off x="5532120" y="1188720"/>
            <a:ext cx="3291840" cy="32004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0" name="Shape 8"/>
          <p:cNvSpPr/>
          <p:nvPr/>
        </p:nvSpPr>
        <p:spPr>
          <a:xfrm>
            <a:off x="5532120" y="1188720"/>
            <a:ext cx="3291840" cy="365760"/>
          </a:xfrm>
          <a:prstGeom prst="rect">
            <a:avLst/>
          </a:prstGeom>
          <a:solidFill>
            <a:srgbClr val="2C5F2D"/>
          </a:solidFill>
          <a:ln w="12700">
            <a:solidFill>
              <a:srgbClr val="2C5F2D"/>
            </a:solidFill>
            <a:prstDash val="solid"/>
          </a:ln>
        </p:spPr>
      </p:sp>
      <p:sp>
        <p:nvSpPr>
          <p:cNvPr id="11" name="Text 9"/>
          <p:cNvSpPr/>
          <p:nvPr/>
        </p:nvSpPr>
        <p:spPr>
          <a:xfrm>
            <a:off x="5532120" y="1188720"/>
            <a:ext cx="32918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Prediction Flow</a:t>
            </a:r>
            <a:endParaRPr lang="en-US" sz="1200" dirty="0"/>
          </a:p>
        </p:txBody>
      </p:sp>
      <p:sp>
        <p:nvSpPr>
          <p:cNvPr id="12" name="Shape 10"/>
          <p:cNvSpPr/>
          <p:nvPr/>
        </p:nvSpPr>
        <p:spPr>
          <a:xfrm>
            <a:off x="5669280" y="1664208"/>
            <a:ext cx="2971800" cy="365760"/>
          </a:xfrm>
          <a:prstGeom prst="rect">
            <a:avLst/>
          </a:prstGeom>
          <a:solidFill>
            <a:srgbClr val="D4EDD9"/>
          </a:solidFill>
          <a:ln w="12700">
            <a:solidFill>
              <a:srgbClr val="C8C0B4"/>
            </a:solidFill>
            <a:prstDash val="solid"/>
          </a:ln>
        </p:spPr>
      </p:sp>
      <p:sp>
        <p:nvSpPr>
          <p:cNvPr id="13" name="Text 11"/>
          <p:cNvSpPr/>
          <p:nvPr/>
        </p:nvSpPr>
        <p:spPr>
          <a:xfrm>
            <a:off x="5669280" y="1664208"/>
            <a:ext cx="2971800" cy="365760"/>
          </a:xfrm>
          <a:prstGeom prst="rect">
            <a:avLst/>
          </a:prstGeom>
          <a:noFill/>
          <a:ln/>
        </p:spPr>
        <p:txBody>
          <a:bodyPr wrap="square" lIns="0" tIns="0" rIns="0" bIns="0" rtlCol="0" anchor="ctr"/>
          <a:lstStyle/>
          <a:p>
            <a:pPr algn="ctr" indent="0" marL="0">
              <a:buNone/>
            </a:pPr>
            <a:r>
              <a:rPr lang="en-US" sz="1050" dirty="0">
                <a:solidFill>
                  <a:srgbClr val="1A3C2B"/>
                </a:solidFill>
                <a:latin typeface="Calibri" pitchFamily="34" charset="0"/>
                <a:ea typeface="Calibri" pitchFamily="34" charset="-122"/>
                <a:cs typeface="Calibri" pitchFamily="34" charset="-120"/>
              </a:rPr>
              <a:t>Uploaded image loaded</a:t>
            </a:r>
            <a:endParaRPr lang="en-US" sz="1050" dirty="0"/>
          </a:p>
        </p:txBody>
      </p:sp>
      <p:sp>
        <p:nvSpPr>
          <p:cNvPr id="14" name="Shape 12"/>
          <p:cNvSpPr/>
          <p:nvPr/>
        </p:nvSpPr>
        <p:spPr>
          <a:xfrm>
            <a:off x="7150608" y="2029968"/>
            <a:ext cx="0" cy="82296"/>
          </a:xfrm>
          <a:prstGeom prst="line">
            <a:avLst/>
          </a:prstGeom>
          <a:noFill/>
          <a:ln w="19050">
            <a:solidFill>
              <a:srgbClr val="6BAA75"/>
            </a:solidFill>
            <a:prstDash val="solid"/>
          </a:ln>
        </p:spPr>
      </p:sp>
      <p:sp>
        <p:nvSpPr>
          <p:cNvPr id="15" name="Shape 13"/>
          <p:cNvSpPr/>
          <p:nvPr/>
        </p:nvSpPr>
        <p:spPr>
          <a:xfrm>
            <a:off x="5669280" y="2112264"/>
            <a:ext cx="2971800" cy="365760"/>
          </a:xfrm>
          <a:prstGeom prst="rect">
            <a:avLst/>
          </a:prstGeom>
          <a:solidFill>
            <a:srgbClr val="EDE8E0"/>
          </a:solidFill>
          <a:ln w="12700">
            <a:solidFill>
              <a:srgbClr val="C8C0B4"/>
            </a:solidFill>
            <a:prstDash val="solid"/>
          </a:ln>
        </p:spPr>
      </p:sp>
      <p:sp>
        <p:nvSpPr>
          <p:cNvPr id="16" name="Text 14"/>
          <p:cNvSpPr/>
          <p:nvPr/>
        </p:nvSpPr>
        <p:spPr>
          <a:xfrm>
            <a:off x="5669280" y="2112264"/>
            <a:ext cx="2971800" cy="365760"/>
          </a:xfrm>
          <a:prstGeom prst="rect">
            <a:avLst/>
          </a:prstGeom>
          <a:noFill/>
          <a:ln/>
        </p:spPr>
        <p:txBody>
          <a:bodyPr wrap="square" lIns="0" tIns="0" rIns="0" bIns="0" rtlCol="0" anchor="ctr"/>
          <a:lstStyle/>
          <a:p>
            <a:pPr algn="ctr" indent="0" marL="0">
              <a:buNone/>
            </a:pPr>
            <a:r>
              <a:rPr lang="en-US" sz="1050" dirty="0">
                <a:solidFill>
                  <a:srgbClr val="1A3C2B"/>
                </a:solidFill>
                <a:latin typeface="Calibri" pitchFamily="34" charset="0"/>
                <a:ea typeface="Calibri" pitchFamily="34" charset="-122"/>
                <a:cs typeface="Calibri" pitchFamily="34" charset="-120"/>
              </a:rPr>
              <a:t>Resize + tensor convert</a:t>
            </a:r>
            <a:endParaRPr lang="en-US" sz="1050" dirty="0"/>
          </a:p>
        </p:txBody>
      </p:sp>
      <p:sp>
        <p:nvSpPr>
          <p:cNvPr id="17" name="Shape 15"/>
          <p:cNvSpPr/>
          <p:nvPr/>
        </p:nvSpPr>
        <p:spPr>
          <a:xfrm>
            <a:off x="7150608" y="2478024"/>
            <a:ext cx="0" cy="82296"/>
          </a:xfrm>
          <a:prstGeom prst="line">
            <a:avLst/>
          </a:prstGeom>
          <a:noFill/>
          <a:ln w="19050">
            <a:solidFill>
              <a:srgbClr val="6BAA75"/>
            </a:solidFill>
            <a:prstDash val="solid"/>
          </a:ln>
        </p:spPr>
      </p:sp>
      <p:sp>
        <p:nvSpPr>
          <p:cNvPr id="18" name="Shape 16"/>
          <p:cNvSpPr/>
          <p:nvPr/>
        </p:nvSpPr>
        <p:spPr>
          <a:xfrm>
            <a:off x="5669280" y="2560320"/>
            <a:ext cx="2971800" cy="365760"/>
          </a:xfrm>
          <a:prstGeom prst="rect">
            <a:avLst/>
          </a:prstGeom>
          <a:solidFill>
            <a:srgbClr val="D4EDD9"/>
          </a:solidFill>
          <a:ln w="12700">
            <a:solidFill>
              <a:srgbClr val="C8C0B4"/>
            </a:solidFill>
            <a:prstDash val="solid"/>
          </a:ln>
        </p:spPr>
      </p:sp>
      <p:sp>
        <p:nvSpPr>
          <p:cNvPr id="19" name="Text 17"/>
          <p:cNvSpPr/>
          <p:nvPr/>
        </p:nvSpPr>
        <p:spPr>
          <a:xfrm>
            <a:off x="5669280" y="2560320"/>
            <a:ext cx="2971800" cy="365760"/>
          </a:xfrm>
          <a:prstGeom prst="rect">
            <a:avLst/>
          </a:prstGeom>
          <a:noFill/>
          <a:ln/>
        </p:spPr>
        <p:txBody>
          <a:bodyPr wrap="square" lIns="0" tIns="0" rIns="0" bIns="0" rtlCol="0" anchor="ctr"/>
          <a:lstStyle/>
          <a:p>
            <a:pPr algn="ctr" indent="0" marL="0">
              <a:buNone/>
            </a:pPr>
            <a:r>
              <a:rPr lang="en-US" sz="1050" dirty="0">
                <a:solidFill>
                  <a:srgbClr val="1A3C2B"/>
                </a:solidFill>
                <a:latin typeface="Calibri" pitchFamily="34" charset="0"/>
                <a:ea typeface="Calibri" pitchFamily="34" charset="-122"/>
                <a:cs typeface="Calibri" pitchFamily="34" charset="-120"/>
              </a:rPr>
              <a:t>CNN forward pass</a:t>
            </a:r>
            <a:endParaRPr lang="en-US" sz="1050" dirty="0"/>
          </a:p>
        </p:txBody>
      </p:sp>
      <p:sp>
        <p:nvSpPr>
          <p:cNvPr id="20" name="Shape 18"/>
          <p:cNvSpPr/>
          <p:nvPr/>
        </p:nvSpPr>
        <p:spPr>
          <a:xfrm>
            <a:off x="7150608" y="2926080"/>
            <a:ext cx="0" cy="82296"/>
          </a:xfrm>
          <a:prstGeom prst="line">
            <a:avLst/>
          </a:prstGeom>
          <a:noFill/>
          <a:ln w="19050">
            <a:solidFill>
              <a:srgbClr val="6BAA75"/>
            </a:solidFill>
            <a:prstDash val="solid"/>
          </a:ln>
        </p:spPr>
      </p:sp>
      <p:sp>
        <p:nvSpPr>
          <p:cNvPr id="21" name="Shape 19"/>
          <p:cNvSpPr/>
          <p:nvPr/>
        </p:nvSpPr>
        <p:spPr>
          <a:xfrm>
            <a:off x="5669280" y="3008376"/>
            <a:ext cx="2971800" cy="365760"/>
          </a:xfrm>
          <a:prstGeom prst="rect">
            <a:avLst/>
          </a:prstGeom>
          <a:solidFill>
            <a:srgbClr val="EDE8E0"/>
          </a:solidFill>
          <a:ln w="12700">
            <a:solidFill>
              <a:srgbClr val="C8C0B4"/>
            </a:solidFill>
            <a:prstDash val="solid"/>
          </a:ln>
        </p:spPr>
      </p:sp>
      <p:sp>
        <p:nvSpPr>
          <p:cNvPr id="22" name="Text 20"/>
          <p:cNvSpPr/>
          <p:nvPr/>
        </p:nvSpPr>
        <p:spPr>
          <a:xfrm>
            <a:off x="5669280" y="3008376"/>
            <a:ext cx="2971800" cy="365760"/>
          </a:xfrm>
          <a:prstGeom prst="rect">
            <a:avLst/>
          </a:prstGeom>
          <a:noFill/>
          <a:ln/>
        </p:spPr>
        <p:txBody>
          <a:bodyPr wrap="square" lIns="0" tIns="0" rIns="0" bIns="0" rtlCol="0" anchor="ctr"/>
          <a:lstStyle/>
          <a:p>
            <a:pPr algn="ctr" indent="0" marL="0">
              <a:buNone/>
            </a:pPr>
            <a:r>
              <a:rPr lang="en-US" sz="1050" dirty="0">
                <a:solidFill>
                  <a:srgbClr val="1A3C2B"/>
                </a:solidFill>
                <a:latin typeface="Calibri" pitchFamily="34" charset="0"/>
                <a:ea typeface="Calibri" pitchFamily="34" charset="-122"/>
                <a:cs typeface="Calibri" pitchFamily="34" charset="-120"/>
              </a:rPr>
              <a:t>Softmax → confidence</a:t>
            </a:r>
            <a:endParaRPr lang="en-US" sz="1050" dirty="0"/>
          </a:p>
        </p:txBody>
      </p:sp>
      <p:sp>
        <p:nvSpPr>
          <p:cNvPr id="23" name="Shape 21"/>
          <p:cNvSpPr/>
          <p:nvPr/>
        </p:nvSpPr>
        <p:spPr>
          <a:xfrm>
            <a:off x="7150608" y="3374136"/>
            <a:ext cx="0" cy="82296"/>
          </a:xfrm>
          <a:prstGeom prst="line">
            <a:avLst/>
          </a:prstGeom>
          <a:noFill/>
          <a:ln w="19050">
            <a:solidFill>
              <a:srgbClr val="6BAA75"/>
            </a:solidFill>
            <a:prstDash val="solid"/>
          </a:ln>
        </p:spPr>
      </p:sp>
      <p:sp>
        <p:nvSpPr>
          <p:cNvPr id="24" name="Shape 22"/>
          <p:cNvSpPr/>
          <p:nvPr/>
        </p:nvSpPr>
        <p:spPr>
          <a:xfrm>
            <a:off x="5669280" y="3456432"/>
            <a:ext cx="2971800" cy="365760"/>
          </a:xfrm>
          <a:prstGeom prst="rect">
            <a:avLst/>
          </a:prstGeom>
          <a:solidFill>
            <a:srgbClr val="D4EDD9"/>
          </a:solidFill>
          <a:ln w="12700">
            <a:solidFill>
              <a:srgbClr val="C8C0B4"/>
            </a:solidFill>
            <a:prstDash val="solid"/>
          </a:ln>
        </p:spPr>
      </p:sp>
      <p:sp>
        <p:nvSpPr>
          <p:cNvPr id="25" name="Text 23"/>
          <p:cNvSpPr/>
          <p:nvPr/>
        </p:nvSpPr>
        <p:spPr>
          <a:xfrm>
            <a:off x="5669280" y="3456432"/>
            <a:ext cx="2971800" cy="365760"/>
          </a:xfrm>
          <a:prstGeom prst="rect">
            <a:avLst/>
          </a:prstGeom>
          <a:noFill/>
          <a:ln/>
        </p:spPr>
        <p:txBody>
          <a:bodyPr wrap="square" lIns="0" tIns="0" rIns="0" bIns="0" rtlCol="0" anchor="ctr"/>
          <a:lstStyle/>
          <a:p>
            <a:pPr algn="ctr" indent="0" marL="0">
              <a:buNone/>
            </a:pPr>
            <a:r>
              <a:rPr lang="en-US" sz="1050" dirty="0">
                <a:solidFill>
                  <a:srgbClr val="1A3C2B"/>
                </a:solidFill>
                <a:latin typeface="Calibri" pitchFamily="34" charset="0"/>
                <a:ea typeface="Calibri" pitchFamily="34" charset="-122"/>
                <a:cs typeface="Calibri" pitchFamily="34" charset="-120"/>
              </a:rPr>
              <a:t>Top predicted class</a:t>
            </a:r>
            <a:endParaRPr lang="en-US" sz="1050" dirty="0"/>
          </a:p>
        </p:txBody>
      </p:sp>
      <p:sp>
        <p:nvSpPr>
          <p:cNvPr id="26" name="Shape 24"/>
          <p:cNvSpPr/>
          <p:nvPr/>
        </p:nvSpPr>
        <p:spPr>
          <a:xfrm>
            <a:off x="7150608" y="3822192"/>
            <a:ext cx="0" cy="82296"/>
          </a:xfrm>
          <a:prstGeom prst="line">
            <a:avLst/>
          </a:prstGeom>
          <a:noFill/>
          <a:ln w="19050">
            <a:solidFill>
              <a:srgbClr val="6BAA75"/>
            </a:solidFill>
            <a:prstDash val="solid"/>
          </a:ln>
        </p:spPr>
      </p:sp>
      <p:sp>
        <p:nvSpPr>
          <p:cNvPr id="27" name="Shape 25"/>
          <p:cNvSpPr/>
          <p:nvPr/>
        </p:nvSpPr>
        <p:spPr>
          <a:xfrm>
            <a:off x="5669280" y="3904488"/>
            <a:ext cx="2971800" cy="365760"/>
          </a:xfrm>
          <a:prstGeom prst="rect">
            <a:avLst/>
          </a:prstGeom>
          <a:solidFill>
            <a:srgbClr val="EDE8E0"/>
          </a:solidFill>
          <a:ln w="12700">
            <a:solidFill>
              <a:srgbClr val="C8C0B4"/>
            </a:solidFill>
            <a:prstDash val="solid"/>
          </a:ln>
        </p:spPr>
      </p:sp>
      <p:sp>
        <p:nvSpPr>
          <p:cNvPr id="28" name="Text 26"/>
          <p:cNvSpPr/>
          <p:nvPr/>
        </p:nvSpPr>
        <p:spPr>
          <a:xfrm>
            <a:off x="5669280" y="3904488"/>
            <a:ext cx="2971800" cy="365760"/>
          </a:xfrm>
          <a:prstGeom prst="rect">
            <a:avLst/>
          </a:prstGeom>
          <a:noFill/>
          <a:ln/>
        </p:spPr>
        <p:txBody>
          <a:bodyPr wrap="square" lIns="0" tIns="0" rIns="0" bIns="0" rtlCol="0" anchor="ctr"/>
          <a:lstStyle/>
          <a:p>
            <a:pPr algn="ctr" indent="0" marL="0">
              <a:buNone/>
            </a:pPr>
            <a:r>
              <a:rPr lang="en-US" sz="1050" dirty="0">
                <a:solidFill>
                  <a:srgbClr val="1A3C2B"/>
                </a:solidFill>
                <a:latin typeface="Calibri" pitchFamily="34" charset="0"/>
                <a:ea typeface="Calibri" pitchFamily="34" charset="-122"/>
                <a:cs typeface="Calibri" pitchFamily="34" charset="-120"/>
              </a:rPr>
              <a:t>→ RAG query string</a:t>
            </a:r>
            <a:endParaRPr lang="en-US" sz="1050" dirty="0"/>
          </a:p>
        </p:txBody>
      </p:sp>
      <p:sp>
        <p:nvSpPr>
          <p:cNvPr id="29" name="Shape 27"/>
          <p:cNvSpPr/>
          <p:nvPr/>
        </p:nvSpPr>
        <p:spPr>
          <a:xfrm>
            <a:off x="320040" y="4526280"/>
            <a:ext cx="8503920" cy="384048"/>
          </a:xfrm>
          <a:prstGeom prst="rect">
            <a:avLst/>
          </a:prstGeom>
          <a:solidFill>
            <a:srgbClr val="EDF7F0"/>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0" name="Text 28"/>
          <p:cNvSpPr/>
          <p:nvPr/>
        </p:nvSpPr>
        <p:spPr>
          <a:xfrm>
            <a:off x="411480" y="4544568"/>
            <a:ext cx="8321040" cy="329184"/>
          </a:xfrm>
          <a:prstGeom prst="rect">
            <a:avLst/>
          </a:prstGeom>
          <a:noFill/>
          <a:ln/>
        </p:spPr>
        <p:txBody>
          <a:bodyPr wrap="square" lIns="0" tIns="0" rIns="0" bIns="0" rtlCol="0" anchor="ctr"/>
          <a:lstStyle/>
          <a:p>
            <a:pPr indent="0" marL="0">
              <a:buNone/>
            </a:pPr>
            <a:r>
              <a:rPr lang="en-US" sz="1000" dirty="0">
                <a:solidFill>
                  <a:srgbClr val="2C5F2D"/>
                </a:solidFill>
                <a:latin typeface="Calibri" pitchFamily="34" charset="0"/>
                <a:ea typeface="Calibri" pitchFamily="34" charset="-122"/>
                <a:cs typeface="Calibri" pitchFamily="34" charset="-120"/>
              </a:rPr>
              <a:t>Key files:  src/03_train_initial_model.py  ·  src/13_predict_uploaded_image.py  ·  src/07_dynamic_dataset_loader.py</a:t>
            </a:r>
            <a:endParaRPr lang="en-US" sz="1000" dirty="0"/>
          </a:p>
        </p:txBody>
      </p:sp>
      <p:sp>
        <p:nvSpPr>
          <p:cNvPr id="31" name="Shape 29"/>
          <p:cNvSpPr/>
          <p:nvPr/>
        </p:nvSpPr>
        <p:spPr>
          <a:xfrm>
            <a:off x="6858000" y="4663440"/>
            <a:ext cx="2011680" cy="320040"/>
          </a:xfrm>
          <a:prstGeom prst="rect">
            <a:avLst/>
          </a:prstGeom>
          <a:solidFill>
            <a:srgbClr val="2C5F2D"/>
          </a:solidFill>
          <a:ln w="12700">
            <a:solidFill>
              <a:srgbClr val="2C5F2D"/>
            </a:solidFill>
            <a:prstDash val="solid"/>
          </a:ln>
        </p:spPr>
      </p:sp>
      <p:sp>
        <p:nvSpPr>
          <p:cNvPr id="32" name="Text 30"/>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Grad-CAM Explainability</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Speaker 2 — Visual explanation of CNN predictions</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88720"/>
            <a:ext cx="4206240" cy="35661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188720"/>
            <a:ext cx="4206240" cy="384048"/>
          </a:xfrm>
          <a:prstGeom prst="rect">
            <a:avLst/>
          </a:prstGeom>
          <a:solidFill>
            <a:srgbClr val="2C5F2D"/>
          </a:solidFill>
          <a:ln w="12700">
            <a:solidFill>
              <a:srgbClr val="2C5F2D"/>
            </a:solidFill>
            <a:prstDash val="solid"/>
          </a:ln>
        </p:spPr>
      </p:sp>
      <p:sp>
        <p:nvSpPr>
          <p:cNvPr id="8" name="Shape 6"/>
          <p:cNvSpPr/>
          <p:nvPr/>
        </p:nvSpPr>
        <p:spPr>
          <a:xfrm>
            <a:off x="438912" y="1243584"/>
            <a:ext cx="384048" cy="384048"/>
          </a:xfrm>
          <a:prstGeom prst="ellipse">
            <a:avLst/>
          </a:prstGeom>
          <a:solidFill>
            <a:srgbClr val="2C5F2D"/>
          </a:solidFill>
          <a:ln w="12700">
            <a:solidFill>
              <a:srgbClr val="2C5F2D"/>
            </a:solidFill>
            <a:prstDash val="solid"/>
          </a:ln>
        </p:spPr>
      </p:sp>
      <p:pic>
        <p:nvPicPr>
          <p:cNvPr id="9" name="Image 0" descr="preencoded.png">    </p:cNvPr>
          <p:cNvPicPr>
            <a:picLocks noChangeAspect="1"/>
          </p:cNvPicPr>
          <p:nvPr/>
        </p:nvPicPr>
        <p:blipFill>
          <a:blip r:embed="rId1"/>
          <a:stretch>
            <a:fillRect/>
          </a:stretch>
        </p:blipFill>
        <p:spPr>
          <a:xfrm>
            <a:off x="502920" y="1307592"/>
            <a:ext cx="256032" cy="256032"/>
          </a:xfrm>
          <a:prstGeom prst="rect">
            <a:avLst/>
          </a:prstGeom>
        </p:spPr>
      </p:pic>
      <p:sp>
        <p:nvSpPr>
          <p:cNvPr id="10" name="Text 7"/>
          <p:cNvSpPr/>
          <p:nvPr/>
        </p:nvSpPr>
        <p:spPr>
          <a:xfrm>
            <a:off x="896112" y="1243584"/>
            <a:ext cx="347472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is Grad-CAM?</a:t>
            </a:r>
            <a:endParaRPr lang="en-US" sz="1300" dirty="0"/>
          </a:p>
        </p:txBody>
      </p:sp>
      <p:sp>
        <p:nvSpPr>
          <p:cNvPr id="11" name="Text 8"/>
          <p:cNvSpPr/>
          <p:nvPr/>
        </p:nvSpPr>
        <p:spPr>
          <a:xfrm>
            <a:off x="438912" y="1664208"/>
            <a:ext cx="3931920" cy="274320"/>
          </a:xfrm>
          <a:prstGeom prst="rect">
            <a:avLst/>
          </a:prstGeom>
          <a:noFill/>
          <a:ln/>
        </p:spPr>
        <p:txBody>
          <a:bodyPr wrap="square" lIns="0" tIns="0" rIns="0" bIns="0" rtlCol="0" anchor="ctr"/>
          <a:lstStyle/>
          <a:p>
            <a:pPr indent="0" marL="0">
              <a:buNone/>
            </a:pPr>
            <a:r>
              <a:rPr lang="en-US" sz="1100" b="1" i="1" dirty="0">
                <a:solidFill>
                  <a:srgbClr val="2C5F2D"/>
                </a:solidFill>
                <a:latin typeface="Calibri" pitchFamily="34" charset="0"/>
                <a:ea typeface="Calibri" pitchFamily="34" charset="-122"/>
                <a:cs typeface="Calibri" pitchFamily="34" charset="-120"/>
              </a:rPr>
              <a:t>Gradient-weighted Class Activation Mapping</a:t>
            </a:r>
            <a:endParaRPr lang="en-US" sz="1100" dirty="0"/>
          </a:p>
        </p:txBody>
      </p:sp>
      <p:sp>
        <p:nvSpPr>
          <p:cNvPr id="12" name="Text 9"/>
          <p:cNvSpPr/>
          <p:nvPr/>
        </p:nvSpPr>
        <p:spPr>
          <a:xfrm>
            <a:off x="438912" y="1993392"/>
            <a:ext cx="3931920" cy="2560320"/>
          </a:xfrm>
          <a:prstGeom prst="rect">
            <a:avLst/>
          </a:prstGeom>
          <a:noFill/>
          <a:ln/>
        </p:spPr>
        <p:txBody>
          <a:bodyPr wrap="square" lIns="50800" tIns="50800" rIns="50800" bIns="50800" rtlCol="0" anchor="ctr"/>
          <a:lstStyle/>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Uses gradients flowing into the final convolutional layer of the CNN</a:t>
            </a:r>
            <a:endParaRPr lang="en-US" sz="1100" dirty="0"/>
          </a:p>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Computes importance weights for each feature map channel</a:t>
            </a:r>
            <a:endParaRPr lang="en-US" sz="1100" dirty="0"/>
          </a:p>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Produces a heatmap highlighting regions that most influenced the prediction</a:t>
            </a:r>
            <a:endParaRPr lang="en-US" sz="1100" dirty="0"/>
          </a:p>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Overlaid on the original leaf image for visual inspection</a:t>
            </a:r>
            <a:endParaRPr lang="en-US" sz="1100" dirty="0"/>
          </a:p>
          <a:p>
            <a:pPr marL="342900" indent="-342900">
              <a:buSzPct val="100000"/>
              <a:buChar char="•"/>
            </a:pPr>
            <a:r>
              <a:rPr lang="en-US" sz="1100" dirty="0">
                <a:solidFill>
                  <a:srgbClr val="3B5249"/>
                </a:solidFill>
                <a:latin typeface="Calibri" pitchFamily="34" charset="0"/>
                <a:ea typeface="Calibri" pitchFamily="34" charset="-122"/>
                <a:cs typeface="Calibri" pitchFamily="34" charset="-120"/>
              </a:rPr>
              <a:t>Helps verify: did the model focus on diseased regions, or irrelevant background?</a:t>
            </a:r>
            <a:endParaRPr lang="en-US" sz="1100" dirty="0"/>
          </a:p>
        </p:txBody>
      </p:sp>
      <p:sp>
        <p:nvSpPr>
          <p:cNvPr id="13" name="Shape 10"/>
          <p:cNvSpPr/>
          <p:nvPr/>
        </p:nvSpPr>
        <p:spPr>
          <a:xfrm>
            <a:off x="4709160" y="1188720"/>
            <a:ext cx="4114800" cy="35661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4" name="Text 11"/>
          <p:cNvSpPr/>
          <p:nvPr/>
        </p:nvSpPr>
        <p:spPr>
          <a:xfrm>
            <a:off x="4800600" y="1243584"/>
            <a:ext cx="3886200" cy="329184"/>
          </a:xfrm>
          <a:prstGeom prst="rect">
            <a:avLst/>
          </a:prstGeom>
          <a:noFill/>
          <a:ln/>
        </p:spPr>
        <p:txBody>
          <a:bodyPr wrap="square" lIns="0" tIns="0" rIns="0" bIns="0" rtlCol="0" anchor="ctr"/>
          <a:lstStyle/>
          <a:p>
            <a:pPr indent="0" marL="0">
              <a:buNone/>
            </a:pPr>
            <a:r>
              <a:rPr lang="en-US" sz="1300" b="1" dirty="0">
                <a:solidFill>
                  <a:srgbClr val="1A3C2B"/>
                </a:solidFill>
                <a:latin typeface="Calibri" pitchFamily="34" charset="0"/>
                <a:ea typeface="Calibri" pitchFamily="34" charset="-122"/>
                <a:cs typeface="Calibri" pitchFamily="34" charset="-120"/>
              </a:rPr>
              <a:t>How Grad-CAM Works</a:t>
            </a:r>
            <a:endParaRPr lang="en-US" sz="1300" dirty="0"/>
          </a:p>
        </p:txBody>
      </p:sp>
      <p:sp>
        <p:nvSpPr>
          <p:cNvPr id="15" name="Shape 12"/>
          <p:cNvSpPr/>
          <p:nvPr/>
        </p:nvSpPr>
        <p:spPr>
          <a:xfrm>
            <a:off x="4800600" y="1728216"/>
            <a:ext cx="320040" cy="320040"/>
          </a:xfrm>
          <a:prstGeom prst="ellipse">
            <a:avLst/>
          </a:prstGeom>
          <a:solidFill>
            <a:srgbClr val="2C5F2D"/>
          </a:solidFill>
          <a:ln w="12700">
            <a:solidFill>
              <a:srgbClr val="2C5F2D"/>
            </a:solidFill>
            <a:prstDash val="solid"/>
          </a:ln>
        </p:spPr>
      </p:sp>
      <p:sp>
        <p:nvSpPr>
          <p:cNvPr id="16" name="Text 13"/>
          <p:cNvSpPr/>
          <p:nvPr/>
        </p:nvSpPr>
        <p:spPr>
          <a:xfrm>
            <a:off x="4800600" y="1728216"/>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4"/>
          <p:cNvSpPr/>
          <p:nvPr/>
        </p:nvSpPr>
        <p:spPr>
          <a:xfrm>
            <a:off x="5193792" y="1709928"/>
            <a:ext cx="3474720" cy="22860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Forward Pass</a:t>
            </a:r>
            <a:endParaRPr lang="en-US" sz="1100" dirty="0"/>
          </a:p>
        </p:txBody>
      </p:sp>
      <p:sp>
        <p:nvSpPr>
          <p:cNvPr id="18" name="Text 15"/>
          <p:cNvSpPr/>
          <p:nvPr/>
        </p:nvSpPr>
        <p:spPr>
          <a:xfrm>
            <a:off x="5193792" y="1938528"/>
            <a:ext cx="3474720" cy="274320"/>
          </a:xfrm>
          <a:prstGeom prst="rect">
            <a:avLst/>
          </a:prstGeom>
          <a:noFill/>
          <a:ln/>
        </p:spPr>
        <p:txBody>
          <a:bodyPr wrap="square" lIns="0" tIns="0" rIns="0" bIns="0" rtlCol="0" anchor="ctr"/>
          <a:lstStyle/>
          <a:p>
            <a:pPr indent="0" marL="0">
              <a:buNone/>
            </a:pPr>
            <a:r>
              <a:rPr lang="en-US" sz="1000" dirty="0">
                <a:solidFill>
                  <a:srgbClr val="6B7F74"/>
                </a:solidFill>
                <a:latin typeface="Calibri" pitchFamily="34" charset="0"/>
                <a:ea typeface="Calibri" pitchFamily="34" charset="-122"/>
                <a:cs typeface="Calibri" pitchFamily="34" charset="-120"/>
              </a:rPr>
              <a:t>Image passes through CNN; class with highest score selected</a:t>
            </a:r>
            <a:endParaRPr lang="en-US" sz="1000" dirty="0"/>
          </a:p>
        </p:txBody>
      </p:sp>
      <p:sp>
        <p:nvSpPr>
          <p:cNvPr id="19" name="Shape 16"/>
          <p:cNvSpPr/>
          <p:nvPr/>
        </p:nvSpPr>
        <p:spPr>
          <a:xfrm>
            <a:off x="4800600" y="2340864"/>
            <a:ext cx="320040" cy="320040"/>
          </a:xfrm>
          <a:prstGeom prst="ellipse">
            <a:avLst/>
          </a:prstGeom>
          <a:solidFill>
            <a:srgbClr val="2C5F2D"/>
          </a:solidFill>
          <a:ln w="12700">
            <a:solidFill>
              <a:srgbClr val="2C5F2D"/>
            </a:solidFill>
            <a:prstDash val="solid"/>
          </a:ln>
        </p:spPr>
      </p:sp>
      <p:sp>
        <p:nvSpPr>
          <p:cNvPr id="20" name="Text 17"/>
          <p:cNvSpPr/>
          <p:nvPr/>
        </p:nvSpPr>
        <p:spPr>
          <a:xfrm>
            <a:off x="4800600" y="234086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8"/>
          <p:cNvSpPr/>
          <p:nvPr/>
        </p:nvSpPr>
        <p:spPr>
          <a:xfrm>
            <a:off x="5193792" y="2322576"/>
            <a:ext cx="3474720" cy="22860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Backward Pass</a:t>
            </a:r>
            <a:endParaRPr lang="en-US" sz="1100" dirty="0"/>
          </a:p>
        </p:txBody>
      </p:sp>
      <p:sp>
        <p:nvSpPr>
          <p:cNvPr id="22" name="Text 19"/>
          <p:cNvSpPr/>
          <p:nvPr/>
        </p:nvSpPr>
        <p:spPr>
          <a:xfrm>
            <a:off x="5193792" y="2551176"/>
            <a:ext cx="3474720" cy="274320"/>
          </a:xfrm>
          <a:prstGeom prst="rect">
            <a:avLst/>
          </a:prstGeom>
          <a:noFill/>
          <a:ln/>
        </p:spPr>
        <p:txBody>
          <a:bodyPr wrap="square" lIns="0" tIns="0" rIns="0" bIns="0" rtlCol="0" anchor="ctr"/>
          <a:lstStyle/>
          <a:p>
            <a:pPr indent="0" marL="0">
              <a:buNone/>
            </a:pPr>
            <a:r>
              <a:rPr lang="en-US" sz="1000" dirty="0">
                <a:solidFill>
                  <a:srgbClr val="6B7F74"/>
                </a:solidFill>
                <a:latin typeface="Calibri" pitchFamily="34" charset="0"/>
                <a:ea typeface="Calibri" pitchFamily="34" charset="-122"/>
                <a:cs typeface="Calibri" pitchFamily="34" charset="-120"/>
              </a:rPr>
              <a:t>Gradients computed for the predicted class score w.r.t. final conv layer</a:t>
            </a:r>
            <a:endParaRPr lang="en-US" sz="1000" dirty="0"/>
          </a:p>
        </p:txBody>
      </p:sp>
      <p:sp>
        <p:nvSpPr>
          <p:cNvPr id="23" name="Shape 20"/>
          <p:cNvSpPr/>
          <p:nvPr/>
        </p:nvSpPr>
        <p:spPr>
          <a:xfrm>
            <a:off x="4800600" y="2953512"/>
            <a:ext cx="320040" cy="320040"/>
          </a:xfrm>
          <a:prstGeom prst="ellipse">
            <a:avLst/>
          </a:prstGeom>
          <a:solidFill>
            <a:srgbClr val="2C5F2D"/>
          </a:solidFill>
          <a:ln w="12700">
            <a:solidFill>
              <a:srgbClr val="2C5F2D"/>
            </a:solidFill>
            <a:prstDash val="solid"/>
          </a:ln>
        </p:spPr>
      </p:sp>
      <p:sp>
        <p:nvSpPr>
          <p:cNvPr id="24" name="Text 21"/>
          <p:cNvSpPr/>
          <p:nvPr/>
        </p:nvSpPr>
        <p:spPr>
          <a:xfrm>
            <a:off x="4800600" y="295351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2"/>
          <p:cNvSpPr/>
          <p:nvPr/>
        </p:nvSpPr>
        <p:spPr>
          <a:xfrm>
            <a:off x="5193792" y="2935224"/>
            <a:ext cx="3474720" cy="22860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Global Average Pooling</a:t>
            </a:r>
            <a:endParaRPr lang="en-US" sz="1100" dirty="0"/>
          </a:p>
        </p:txBody>
      </p:sp>
      <p:sp>
        <p:nvSpPr>
          <p:cNvPr id="26" name="Text 23"/>
          <p:cNvSpPr/>
          <p:nvPr/>
        </p:nvSpPr>
        <p:spPr>
          <a:xfrm>
            <a:off x="5193792" y="3163824"/>
            <a:ext cx="3474720" cy="274320"/>
          </a:xfrm>
          <a:prstGeom prst="rect">
            <a:avLst/>
          </a:prstGeom>
          <a:noFill/>
          <a:ln/>
        </p:spPr>
        <p:txBody>
          <a:bodyPr wrap="square" lIns="0" tIns="0" rIns="0" bIns="0" rtlCol="0" anchor="ctr"/>
          <a:lstStyle/>
          <a:p>
            <a:pPr indent="0" marL="0">
              <a:buNone/>
            </a:pPr>
            <a:r>
              <a:rPr lang="en-US" sz="1000" dirty="0">
                <a:solidFill>
                  <a:srgbClr val="6B7F74"/>
                </a:solidFill>
                <a:latin typeface="Calibri" pitchFamily="34" charset="0"/>
                <a:ea typeface="Calibri" pitchFamily="34" charset="-122"/>
                <a:cs typeface="Calibri" pitchFamily="34" charset="-120"/>
              </a:rPr>
              <a:t>Gradients pooled over spatial dimensions to get channel importance weights</a:t>
            </a:r>
            <a:endParaRPr lang="en-US" sz="1000" dirty="0"/>
          </a:p>
        </p:txBody>
      </p:sp>
      <p:sp>
        <p:nvSpPr>
          <p:cNvPr id="27" name="Shape 24"/>
          <p:cNvSpPr/>
          <p:nvPr/>
        </p:nvSpPr>
        <p:spPr>
          <a:xfrm>
            <a:off x="4800600" y="3566160"/>
            <a:ext cx="320040" cy="320040"/>
          </a:xfrm>
          <a:prstGeom prst="ellipse">
            <a:avLst/>
          </a:prstGeom>
          <a:solidFill>
            <a:srgbClr val="2C5F2D"/>
          </a:solidFill>
          <a:ln w="12700">
            <a:solidFill>
              <a:srgbClr val="2C5F2D"/>
            </a:solidFill>
            <a:prstDash val="solid"/>
          </a:ln>
        </p:spPr>
      </p:sp>
      <p:sp>
        <p:nvSpPr>
          <p:cNvPr id="28" name="Text 25"/>
          <p:cNvSpPr/>
          <p:nvPr/>
        </p:nvSpPr>
        <p:spPr>
          <a:xfrm>
            <a:off x="4800600" y="35661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6"/>
          <p:cNvSpPr/>
          <p:nvPr/>
        </p:nvSpPr>
        <p:spPr>
          <a:xfrm>
            <a:off x="5193792" y="3547872"/>
            <a:ext cx="3474720" cy="22860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Weighted Sum</a:t>
            </a:r>
            <a:endParaRPr lang="en-US" sz="1100" dirty="0"/>
          </a:p>
        </p:txBody>
      </p:sp>
      <p:sp>
        <p:nvSpPr>
          <p:cNvPr id="30" name="Text 27"/>
          <p:cNvSpPr/>
          <p:nvPr/>
        </p:nvSpPr>
        <p:spPr>
          <a:xfrm>
            <a:off x="5193792" y="3776472"/>
            <a:ext cx="3474720" cy="274320"/>
          </a:xfrm>
          <a:prstGeom prst="rect">
            <a:avLst/>
          </a:prstGeom>
          <a:noFill/>
          <a:ln/>
        </p:spPr>
        <p:txBody>
          <a:bodyPr wrap="square" lIns="0" tIns="0" rIns="0" bIns="0" rtlCol="0" anchor="ctr"/>
          <a:lstStyle/>
          <a:p>
            <a:pPr indent="0" marL="0">
              <a:buNone/>
            </a:pPr>
            <a:r>
              <a:rPr lang="en-US" sz="1000" dirty="0">
                <a:solidFill>
                  <a:srgbClr val="6B7F74"/>
                </a:solidFill>
                <a:latin typeface="Calibri" pitchFamily="34" charset="0"/>
                <a:ea typeface="Calibri" pitchFamily="34" charset="-122"/>
                <a:cs typeface="Calibri" pitchFamily="34" charset="-120"/>
              </a:rPr>
              <a:t>Feature maps multiplied by weights and summed to get raw activation map</a:t>
            </a:r>
            <a:endParaRPr lang="en-US" sz="1000" dirty="0"/>
          </a:p>
        </p:txBody>
      </p:sp>
      <p:sp>
        <p:nvSpPr>
          <p:cNvPr id="31" name="Shape 28"/>
          <p:cNvSpPr/>
          <p:nvPr/>
        </p:nvSpPr>
        <p:spPr>
          <a:xfrm>
            <a:off x="4800600" y="4178808"/>
            <a:ext cx="320040" cy="320040"/>
          </a:xfrm>
          <a:prstGeom prst="ellipse">
            <a:avLst/>
          </a:prstGeom>
          <a:solidFill>
            <a:srgbClr val="2C5F2D"/>
          </a:solidFill>
          <a:ln w="12700">
            <a:solidFill>
              <a:srgbClr val="2C5F2D"/>
            </a:solidFill>
            <a:prstDash val="solid"/>
          </a:ln>
        </p:spPr>
      </p:sp>
      <p:sp>
        <p:nvSpPr>
          <p:cNvPr id="32" name="Text 29"/>
          <p:cNvSpPr/>
          <p:nvPr/>
        </p:nvSpPr>
        <p:spPr>
          <a:xfrm>
            <a:off x="4800600" y="417880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3" name="Text 30"/>
          <p:cNvSpPr/>
          <p:nvPr/>
        </p:nvSpPr>
        <p:spPr>
          <a:xfrm>
            <a:off x="5193792" y="4160520"/>
            <a:ext cx="3474720" cy="228600"/>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ReLU + Overlay</a:t>
            </a:r>
            <a:endParaRPr lang="en-US" sz="1100" dirty="0"/>
          </a:p>
        </p:txBody>
      </p:sp>
      <p:sp>
        <p:nvSpPr>
          <p:cNvPr id="34" name="Text 31"/>
          <p:cNvSpPr/>
          <p:nvPr/>
        </p:nvSpPr>
        <p:spPr>
          <a:xfrm>
            <a:off x="5193792" y="4389120"/>
            <a:ext cx="3474720" cy="274320"/>
          </a:xfrm>
          <a:prstGeom prst="rect">
            <a:avLst/>
          </a:prstGeom>
          <a:noFill/>
          <a:ln/>
        </p:spPr>
        <p:txBody>
          <a:bodyPr wrap="square" lIns="0" tIns="0" rIns="0" bIns="0" rtlCol="0" anchor="ctr"/>
          <a:lstStyle/>
          <a:p>
            <a:pPr indent="0" marL="0">
              <a:buNone/>
            </a:pPr>
            <a:r>
              <a:rPr lang="en-US" sz="1000" dirty="0">
                <a:solidFill>
                  <a:srgbClr val="6B7F74"/>
                </a:solidFill>
                <a:latin typeface="Calibri" pitchFamily="34" charset="0"/>
                <a:ea typeface="Calibri" pitchFamily="34" charset="-122"/>
                <a:cs typeface="Calibri" pitchFamily="34" charset="-120"/>
              </a:rPr>
              <a:t>ReLU applied (keep positive activations); heatmap overlaid on image</a:t>
            </a:r>
            <a:endParaRPr lang="en-US" sz="1000" dirty="0"/>
          </a:p>
        </p:txBody>
      </p:sp>
      <p:sp>
        <p:nvSpPr>
          <p:cNvPr id="35" name="Shape 32"/>
          <p:cNvSpPr/>
          <p:nvPr/>
        </p:nvSpPr>
        <p:spPr>
          <a:xfrm>
            <a:off x="320040" y="4846320"/>
            <a:ext cx="8503920" cy="146304"/>
          </a:xfrm>
          <a:prstGeom prst="rect">
            <a:avLst/>
          </a:prstGeom>
          <a:solidFill>
            <a:srgbClr val="EDF7F0"/>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6" name="Shape 33"/>
          <p:cNvSpPr/>
          <p:nvPr/>
        </p:nvSpPr>
        <p:spPr>
          <a:xfrm>
            <a:off x="6858000" y="4663440"/>
            <a:ext cx="2011680" cy="320040"/>
          </a:xfrm>
          <a:prstGeom prst="rect">
            <a:avLst/>
          </a:prstGeom>
          <a:solidFill>
            <a:srgbClr val="2C5F2D"/>
          </a:solidFill>
          <a:ln w="12700">
            <a:solidFill>
              <a:srgbClr val="2C5F2D"/>
            </a:solidFill>
            <a:prstDash val="solid"/>
          </a:ln>
        </p:spPr>
      </p:sp>
      <p:sp>
        <p:nvSpPr>
          <p:cNvPr id="37" name="Text 34"/>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Building the Knowledge Base</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Speaker 3 — Multi-source agricultural knowledge assembly</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43000"/>
            <a:ext cx="2697480" cy="31089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143000"/>
            <a:ext cx="2697480" cy="411480"/>
          </a:xfrm>
          <a:prstGeom prst="rect">
            <a:avLst/>
          </a:prstGeom>
          <a:solidFill>
            <a:srgbClr val="2C5F2D"/>
          </a:solidFill>
          <a:ln w="12700">
            <a:solidFill>
              <a:srgbClr val="2C5F2D"/>
            </a:solidFill>
            <a:prstDash val="solid"/>
          </a:ln>
        </p:spPr>
      </p:sp>
      <p:sp>
        <p:nvSpPr>
          <p:cNvPr id="8" name="Shape 6"/>
          <p:cNvSpPr/>
          <p:nvPr/>
        </p:nvSpPr>
        <p:spPr>
          <a:xfrm>
            <a:off x="411480" y="0"/>
            <a:ext cx="384048" cy="384048"/>
          </a:xfrm>
          <a:prstGeom prst="ellipse">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475488" y="0"/>
            <a:ext cx="256032" cy="256032"/>
          </a:xfrm>
          <a:prstGeom prst="rect">
            <a:avLst/>
          </a:prstGeom>
        </p:spPr>
      </p:pic>
      <p:pic>
        <p:nvPicPr>
          <p:cNvPr id="10" name="Image 1" descr="preencoded.png">    </p:cNvPr>
          <p:cNvPicPr>
            <a:picLocks noChangeAspect="1"/>
          </p:cNvPicPr>
          <p:nvPr/>
        </p:nvPicPr>
        <p:blipFill>
          <a:blip r:embed="rId2"/>
          <a:stretch>
            <a:fillRect/>
          </a:stretch>
        </p:blipFill>
        <p:spPr>
          <a:xfrm>
            <a:off x="393192" y="1197864"/>
            <a:ext cx="274320" cy="274320"/>
          </a:xfrm>
          <a:prstGeom prst="rect">
            <a:avLst/>
          </a:prstGeom>
        </p:spPr>
      </p:pic>
      <p:sp>
        <p:nvSpPr>
          <p:cNvPr id="11" name="Text 7"/>
          <p:cNvSpPr/>
          <p:nvPr/>
        </p:nvSpPr>
        <p:spPr>
          <a:xfrm>
            <a:off x="731520" y="1188720"/>
            <a:ext cx="219456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Farmer Advisory Dataset</a:t>
            </a:r>
            <a:endParaRPr lang="en-US" sz="1100" dirty="0"/>
          </a:p>
        </p:txBody>
      </p:sp>
      <p:sp>
        <p:nvSpPr>
          <p:cNvPr id="12" name="Text 8"/>
          <p:cNvSpPr/>
          <p:nvPr/>
        </p:nvSpPr>
        <p:spPr>
          <a:xfrm>
            <a:off x="411480" y="1645920"/>
            <a:ext cx="2487168" cy="2514600"/>
          </a:xfrm>
          <a:prstGeom prst="rect">
            <a:avLst/>
          </a:prstGeom>
          <a:noFill/>
          <a:ln/>
        </p:spPr>
        <p:txBody>
          <a:bodyPr wrap="square" lIns="50800" tIns="50800" rIns="50800" bIns="50800" rtlCol="0" anchor="ctr"/>
          <a:lstStyle/>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Real-world farmer queries and solutions</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Covers diverse crops, diseases, pests, irrigation, equipment</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Records include region, season, urgency fields</a:t>
            </a:r>
            <a:endParaRPr lang="en-US" sz="1050" dirty="0"/>
          </a:p>
        </p:txBody>
      </p:sp>
      <p:sp>
        <p:nvSpPr>
          <p:cNvPr id="13" name="Shape 9"/>
          <p:cNvSpPr/>
          <p:nvPr/>
        </p:nvSpPr>
        <p:spPr>
          <a:xfrm>
            <a:off x="3227832" y="1143000"/>
            <a:ext cx="2697480" cy="31089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4" name="Shape 10"/>
          <p:cNvSpPr/>
          <p:nvPr/>
        </p:nvSpPr>
        <p:spPr>
          <a:xfrm>
            <a:off x="3227832" y="1143000"/>
            <a:ext cx="2697480" cy="411480"/>
          </a:xfrm>
          <a:prstGeom prst="rect">
            <a:avLst/>
          </a:prstGeom>
          <a:solidFill>
            <a:srgbClr val="3D6B52"/>
          </a:solidFill>
          <a:ln w="12700">
            <a:solidFill>
              <a:srgbClr val="3D6B52"/>
            </a:solidFill>
            <a:prstDash val="solid"/>
          </a:ln>
        </p:spPr>
      </p:sp>
      <p:sp>
        <p:nvSpPr>
          <p:cNvPr id="15" name="Shape 11"/>
          <p:cNvSpPr/>
          <p:nvPr/>
        </p:nvSpPr>
        <p:spPr>
          <a:xfrm>
            <a:off x="3319272" y="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3383280" y="0"/>
            <a:ext cx="256032" cy="256032"/>
          </a:xfrm>
          <a:prstGeom prst="rect">
            <a:avLst/>
          </a:prstGeom>
        </p:spPr>
      </p:pic>
      <p:pic>
        <p:nvPicPr>
          <p:cNvPr id="17" name="Image 3" descr="preencoded.png">    </p:cNvPr>
          <p:cNvPicPr>
            <a:picLocks noChangeAspect="1"/>
          </p:cNvPicPr>
          <p:nvPr/>
        </p:nvPicPr>
        <p:blipFill>
          <a:blip r:embed="rId4"/>
          <a:stretch>
            <a:fillRect/>
          </a:stretch>
        </p:blipFill>
        <p:spPr>
          <a:xfrm>
            <a:off x="3300984" y="1197864"/>
            <a:ext cx="274320" cy="274320"/>
          </a:xfrm>
          <a:prstGeom prst="rect">
            <a:avLst/>
          </a:prstGeom>
        </p:spPr>
      </p:pic>
      <p:sp>
        <p:nvSpPr>
          <p:cNvPr id="18" name="Text 12"/>
          <p:cNvSpPr/>
          <p:nvPr/>
        </p:nvSpPr>
        <p:spPr>
          <a:xfrm>
            <a:off x="3639312" y="1188720"/>
            <a:ext cx="219456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Expert Advisory JSON</a:t>
            </a:r>
            <a:endParaRPr lang="en-US" sz="1100" dirty="0"/>
          </a:p>
        </p:txBody>
      </p:sp>
      <p:sp>
        <p:nvSpPr>
          <p:cNvPr id="19" name="Text 13"/>
          <p:cNvSpPr/>
          <p:nvPr/>
        </p:nvSpPr>
        <p:spPr>
          <a:xfrm>
            <a:off x="3319272" y="1645920"/>
            <a:ext cx="2487168" cy="2514600"/>
          </a:xfrm>
          <a:prstGeom prst="rect">
            <a:avLst/>
          </a:prstGeom>
          <a:noFill/>
          <a:ln/>
        </p:spPr>
        <p:txBody>
          <a:bodyPr wrap="square" lIns="50800" tIns="50800" rIns="50800" bIns="50800" rtlCol="0" anchor="ctr"/>
          <a:lstStyle/>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Manually curated expert records</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Structured fields: crop, problem_type, problem_name, region, season, urgency, product_recommended, content</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Built by src/10_build_large_kb.py</a:t>
            </a:r>
            <a:endParaRPr lang="en-US" sz="1050" dirty="0"/>
          </a:p>
        </p:txBody>
      </p:sp>
      <p:sp>
        <p:nvSpPr>
          <p:cNvPr id="20" name="Shape 14"/>
          <p:cNvSpPr/>
          <p:nvPr/>
        </p:nvSpPr>
        <p:spPr>
          <a:xfrm>
            <a:off x="6135624" y="1143000"/>
            <a:ext cx="2697480" cy="31089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1" name="Shape 15"/>
          <p:cNvSpPr/>
          <p:nvPr/>
        </p:nvSpPr>
        <p:spPr>
          <a:xfrm>
            <a:off x="6135624" y="1143000"/>
            <a:ext cx="2697480" cy="411480"/>
          </a:xfrm>
          <a:prstGeom prst="rect">
            <a:avLst/>
          </a:prstGeom>
          <a:solidFill>
            <a:srgbClr val="5A8060"/>
          </a:solidFill>
          <a:ln w="12700">
            <a:solidFill>
              <a:srgbClr val="5A8060"/>
            </a:solidFill>
            <a:prstDash val="solid"/>
          </a:ln>
        </p:spPr>
      </p:sp>
      <p:sp>
        <p:nvSpPr>
          <p:cNvPr id="22" name="Shape 16"/>
          <p:cNvSpPr/>
          <p:nvPr/>
        </p:nvSpPr>
        <p:spPr>
          <a:xfrm>
            <a:off x="6227064" y="0"/>
            <a:ext cx="384048" cy="384048"/>
          </a:xfrm>
          <a:prstGeom prst="ellipse">
            <a:avLst/>
          </a:prstGeom>
          <a:solidFill>
            <a:srgbClr val="FFFFFF"/>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6291072" y="0"/>
            <a:ext cx="256032" cy="256032"/>
          </a:xfrm>
          <a:prstGeom prst="rect">
            <a:avLst/>
          </a:prstGeom>
        </p:spPr>
      </p:pic>
      <p:pic>
        <p:nvPicPr>
          <p:cNvPr id="24" name="Image 5" descr="preencoded.png">    </p:cNvPr>
          <p:cNvPicPr>
            <a:picLocks noChangeAspect="1"/>
          </p:cNvPicPr>
          <p:nvPr/>
        </p:nvPicPr>
        <p:blipFill>
          <a:blip r:embed="rId6"/>
          <a:stretch>
            <a:fillRect/>
          </a:stretch>
        </p:blipFill>
        <p:spPr>
          <a:xfrm>
            <a:off x="6208776" y="1197864"/>
            <a:ext cx="274320" cy="274320"/>
          </a:xfrm>
          <a:prstGeom prst="rect">
            <a:avLst/>
          </a:prstGeom>
        </p:spPr>
      </p:pic>
      <p:sp>
        <p:nvSpPr>
          <p:cNvPr id="25" name="Text 17"/>
          <p:cNvSpPr/>
          <p:nvPr/>
        </p:nvSpPr>
        <p:spPr>
          <a:xfrm>
            <a:off x="6547104" y="1188720"/>
            <a:ext cx="219456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PDF Document Chunks</a:t>
            </a:r>
            <a:endParaRPr lang="en-US" sz="1100" dirty="0"/>
          </a:p>
        </p:txBody>
      </p:sp>
      <p:sp>
        <p:nvSpPr>
          <p:cNvPr id="26" name="Text 18"/>
          <p:cNvSpPr/>
          <p:nvPr/>
        </p:nvSpPr>
        <p:spPr>
          <a:xfrm>
            <a:off x="6227064" y="1645920"/>
            <a:ext cx="2487168" cy="2514600"/>
          </a:xfrm>
          <a:prstGeom prst="rect">
            <a:avLst/>
          </a:prstGeom>
          <a:noFill/>
          <a:ln/>
        </p:spPr>
        <p:txBody>
          <a:bodyPr wrap="square" lIns="50800" tIns="50800" rIns="50800" bIns="50800" rtlCol="0" anchor="ctr"/>
          <a:lstStyle/>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Agricultural PDFs downloaded and processed</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Text extracted with pypdf</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Cleaned, chunked, and structured as RAG records</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Built by src/14_build_document_kb.py</a:t>
            </a:r>
            <a:endParaRPr lang="en-US" sz="1050" dirty="0"/>
          </a:p>
        </p:txBody>
      </p:sp>
      <p:sp>
        <p:nvSpPr>
          <p:cNvPr id="27" name="Shape 19"/>
          <p:cNvSpPr/>
          <p:nvPr/>
        </p:nvSpPr>
        <p:spPr>
          <a:xfrm>
            <a:off x="320040" y="4343400"/>
            <a:ext cx="8503920" cy="640080"/>
          </a:xfrm>
          <a:prstGeom prst="rect">
            <a:avLst/>
          </a:prstGeom>
          <a:solidFill>
            <a:srgbClr val="D4EDD9"/>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8" name="Text 20"/>
          <p:cNvSpPr/>
          <p:nvPr/>
        </p:nvSpPr>
        <p:spPr>
          <a:xfrm>
            <a:off x="457200" y="4389120"/>
            <a:ext cx="8229600" cy="256032"/>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Final Output: data/advisory_knowledge_base_large.json</a:t>
            </a:r>
            <a:endParaRPr lang="en-US" sz="1100" dirty="0"/>
          </a:p>
        </p:txBody>
      </p:sp>
      <p:sp>
        <p:nvSpPr>
          <p:cNvPr id="29" name="Text 21"/>
          <p:cNvSpPr/>
          <p:nvPr/>
        </p:nvSpPr>
        <p:spPr>
          <a:xfrm>
            <a:off x="457200" y="4663440"/>
            <a:ext cx="8229600" cy="256032"/>
          </a:xfrm>
          <a:prstGeom prst="rect">
            <a:avLst/>
          </a:prstGeom>
          <a:noFill/>
          <a:ln/>
        </p:spPr>
        <p:txBody>
          <a:bodyPr wrap="square" lIns="0" tIns="0" rIns="0" bIns="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Each record contains: crop · problem_type · problem_name · region · season · urgency · product_recommended · content</a:t>
            </a:r>
            <a:endParaRPr lang="en-US" sz="1000" dirty="0"/>
          </a:p>
        </p:txBody>
      </p:sp>
      <p:sp>
        <p:nvSpPr>
          <p:cNvPr id="30" name="Shape 22"/>
          <p:cNvSpPr/>
          <p:nvPr/>
        </p:nvSpPr>
        <p:spPr>
          <a:xfrm>
            <a:off x="6858000" y="4663440"/>
            <a:ext cx="2011680" cy="320040"/>
          </a:xfrm>
          <a:prstGeom prst="rect">
            <a:avLst/>
          </a:prstGeom>
          <a:solidFill>
            <a:srgbClr val="2C5F2D"/>
          </a:solidFill>
          <a:ln w="12700">
            <a:solidFill>
              <a:srgbClr val="2C5F2D"/>
            </a:solidFill>
            <a:prstDash val="solid"/>
          </a:ln>
        </p:spPr>
      </p:sp>
      <p:sp>
        <p:nvSpPr>
          <p:cNvPr id="31" name="Text 23"/>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RAG Pipeline</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Speaker 4 — Retrieval-Augmented Generation (src/09_full_rag_pipeline.py)</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88720"/>
            <a:ext cx="416052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188720"/>
            <a:ext cx="4160520" cy="64008"/>
          </a:xfrm>
          <a:prstGeom prst="rect">
            <a:avLst/>
          </a:prstGeom>
          <a:solidFill>
            <a:srgbClr val="2C5F2D"/>
          </a:solidFill>
          <a:ln w="12700">
            <a:solidFill>
              <a:srgbClr val="2C5F2D"/>
            </a:solidFill>
            <a:prstDash val="solid"/>
          </a:ln>
        </p:spPr>
      </p:sp>
      <p:sp>
        <p:nvSpPr>
          <p:cNvPr id="8" name="Shape 6"/>
          <p:cNvSpPr/>
          <p:nvPr/>
        </p:nvSpPr>
        <p:spPr>
          <a:xfrm>
            <a:off x="411480" y="1307592"/>
            <a:ext cx="384048" cy="384048"/>
          </a:xfrm>
          <a:prstGeom prst="ellipse">
            <a:avLst/>
          </a:prstGeom>
          <a:solidFill>
            <a:srgbClr val="2C5F2D"/>
          </a:solidFill>
          <a:ln w="12700">
            <a:solidFill>
              <a:srgbClr val="2C5F2D"/>
            </a:solidFill>
            <a:prstDash val="solid"/>
          </a:ln>
        </p:spPr>
      </p:sp>
      <p:pic>
        <p:nvPicPr>
          <p:cNvPr id="9" name="Image 0" descr="preencoded.png">    </p:cNvPr>
          <p:cNvPicPr>
            <a:picLocks noChangeAspect="1"/>
          </p:cNvPicPr>
          <p:nvPr/>
        </p:nvPicPr>
        <p:blipFill>
          <a:blip r:embed="rId1"/>
          <a:stretch>
            <a:fillRect/>
          </a:stretch>
        </p:blipFill>
        <p:spPr>
          <a:xfrm>
            <a:off x="475488" y="1371600"/>
            <a:ext cx="256032" cy="256032"/>
          </a:xfrm>
          <a:prstGeom prst="rect">
            <a:avLst/>
          </a:prstGeom>
        </p:spPr>
      </p:pic>
      <p:sp>
        <p:nvSpPr>
          <p:cNvPr id="10" name="Text 7"/>
          <p:cNvSpPr/>
          <p:nvPr/>
        </p:nvSpPr>
        <p:spPr>
          <a:xfrm>
            <a:off x="886968" y="1316736"/>
            <a:ext cx="3474720" cy="320040"/>
          </a:xfrm>
          <a:prstGeom prst="rect">
            <a:avLst/>
          </a:prstGeom>
          <a:noFill/>
          <a:ln/>
        </p:spPr>
        <p:txBody>
          <a:bodyPr wrap="square" lIns="0" tIns="0" rIns="0" bIns="0" rtlCol="0" anchor="ctr"/>
          <a:lstStyle/>
          <a:p>
            <a:pPr indent="0" marL="0">
              <a:buNone/>
            </a:pPr>
            <a:r>
              <a:rPr lang="en-US" sz="1200" b="1" dirty="0">
                <a:solidFill>
                  <a:srgbClr val="1A3C2B"/>
                </a:solidFill>
                <a:latin typeface="Calibri" pitchFamily="34" charset="0"/>
                <a:ea typeface="Calibri" pitchFamily="34" charset="-122"/>
                <a:cs typeface="Calibri" pitchFamily="34" charset="-120"/>
              </a:rPr>
              <a:t>TF-IDF Vectorization</a:t>
            </a:r>
            <a:endParaRPr lang="en-US" sz="1200" dirty="0"/>
          </a:p>
        </p:txBody>
      </p:sp>
      <p:sp>
        <p:nvSpPr>
          <p:cNvPr id="11" name="Text 8"/>
          <p:cNvSpPr/>
          <p:nvPr/>
        </p:nvSpPr>
        <p:spPr>
          <a:xfrm>
            <a:off x="411480" y="1737360"/>
            <a:ext cx="3931920" cy="960120"/>
          </a:xfrm>
          <a:prstGeom prst="rect">
            <a:avLst/>
          </a:prstGeom>
          <a:noFill/>
          <a:ln/>
        </p:spPr>
        <p:txBody>
          <a:bodyPr wrap="square" lIns="50800" tIns="50800" rIns="50800" bIns="50800" rtlCol="0" anchor="ctr"/>
          <a:lstStyle/>
          <a:p>
            <a:pPr indent="0" marL="0">
              <a:buNone/>
            </a:pPr>
            <a:r>
              <a:rPr lang="en-US" sz="1050" dirty="0">
                <a:solidFill>
                  <a:srgbClr val="3B5249"/>
                </a:solidFill>
                <a:latin typeface="Calibri" pitchFamily="34" charset="0"/>
                <a:ea typeface="Calibri" pitchFamily="34" charset="-122"/>
                <a:cs typeface="Calibri" pitchFamily="34" charset="-120"/>
              </a:rPr>
              <a:t>Term Frequency–Inverse Document Frequency. Crop-specific words (tomato, whitefly, blight, rust) get higher importance. Represents each document and query as a numeric vector.</a:t>
            </a:r>
            <a:endParaRPr lang="en-US" sz="1050" dirty="0"/>
          </a:p>
        </p:txBody>
      </p:sp>
      <p:sp>
        <p:nvSpPr>
          <p:cNvPr id="12" name="Shape 9"/>
          <p:cNvSpPr/>
          <p:nvPr/>
        </p:nvSpPr>
        <p:spPr>
          <a:xfrm>
            <a:off x="4690872" y="1188720"/>
            <a:ext cx="416052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3" name="Shape 10"/>
          <p:cNvSpPr/>
          <p:nvPr/>
        </p:nvSpPr>
        <p:spPr>
          <a:xfrm>
            <a:off x="4690872" y="1188720"/>
            <a:ext cx="4160520" cy="64008"/>
          </a:xfrm>
          <a:prstGeom prst="rect">
            <a:avLst/>
          </a:prstGeom>
          <a:solidFill>
            <a:srgbClr val="3D6B52"/>
          </a:solidFill>
          <a:ln w="12700">
            <a:solidFill>
              <a:srgbClr val="3D6B52"/>
            </a:solidFill>
            <a:prstDash val="solid"/>
          </a:ln>
        </p:spPr>
      </p:sp>
      <p:sp>
        <p:nvSpPr>
          <p:cNvPr id="14" name="Shape 11"/>
          <p:cNvSpPr/>
          <p:nvPr/>
        </p:nvSpPr>
        <p:spPr>
          <a:xfrm>
            <a:off x="4782312" y="1307592"/>
            <a:ext cx="384048" cy="384048"/>
          </a:xfrm>
          <a:prstGeom prst="ellipse">
            <a:avLst/>
          </a:prstGeom>
          <a:solidFill>
            <a:srgbClr val="3D6B52"/>
          </a:solidFill>
          <a:ln w="12700">
            <a:solidFill>
              <a:srgbClr val="3D6B52"/>
            </a:solidFill>
            <a:prstDash val="solid"/>
          </a:ln>
        </p:spPr>
      </p:sp>
      <p:pic>
        <p:nvPicPr>
          <p:cNvPr id="15" name="Image 1" descr="preencoded.png">    </p:cNvPr>
          <p:cNvPicPr>
            <a:picLocks noChangeAspect="1"/>
          </p:cNvPicPr>
          <p:nvPr/>
        </p:nvPicPr>
        <p:blipFill>
          <a:blip r:embed="rId2"/>
          <a:stretch>
            <a:fillRect/>
          </a:stretch>
        </p:blipFill>
        <p:spPr>
          <a:xfrm>
            <a:off x="4846320" y="1371600"/>
            <a:ext cx="256032" cy="256032"/>
          </a:xfrm>
          <a:prstGeom prst="rect">
            <a:avLst/>
          </a:prstGeom>
        </p:spPr>
      </p:pic>
      <p:sp>
        <p:nvSpPr>
          <p:cNvPr id="16" name="Text 12"/>
          <p:cNvSpPr/>
          <p:nvPr/>
        </p:nvSpPr>
        <p:spPr>
          <a:xfrm>
            <a:off x="5257800" y="1316736"/>
            <a:ext cx="3474720" cy="320040"/>
          </a:xfrm>
          <a:prstGeom prst="rect">
            <a:avLst/>
          </a:prstGeom>
          <a:noFill/>
          <a:ln/>
        </p:spPr>
        <p:txBody>
          <a:bodyPr wrap="square" lIns="0" tIns="0" rIns="0" bIns="0" rtlCol="0" anchor="ctr"/>
          <a:lstStyle/>
          <a:p>
            <a:pPr indent="0" marL="0">
              <a:buNone/>
            </a:pPr>
            <a:r>
              <a:rPr lang="en-US" sz="1200" b="1" dirty="0">
                <a:solidFill>
                  <a:srgbClr val="1A3C2B"/>
                </a:solidFill>
                <a:latin typeface="Calibri" pitchFamily="34" charset="0"/>
                <a:ea typeface="Calibri" pitchFamily="34" charset="-122"/>
                <a:cs typeface="Calibri" pitchFamily="34" charset="-120"/>
              </a:rPr>
              <a:t>Cosine Similarity</a:t>
            </a:r>
            <a:endParaRPr lang="en-US" sz="1200" dirty="0"/>
          </a:p>
        </p:txBody>
      </p:sp>
      <p:sp>
        <p:nvSpPr>
          <p:cNvPr id="17" name="Text 13"/>
          <p:cNvSpPr/>
          <p:nvPr/>
        </p:nvSpPr>
        <p:spPr>
          <a:xfrm>
            <a:off x="4782312" y="1737360"/>
            <a:ext cx="3931920" cy="960120"/>
          </a:xfrm>
          <a:prstGeom prst="rect">
            <a:avLst/>
          </a:prstGeom>
          <a:noFill/>
          <a:ln/>
        </p:spPr>
        <p:txBody>
          <a:bodyPr wrap="square" lIns="50800" tIns="50800" rIns="50800" bIns="50800" rtlCol="0" anchor="ctr"/>
          <a:lstStyle/>
          <a:p>
            <a:pPr indent="0" marL="0">
              <a:buNone/>
            </a:pPr>
            <a:r>
              <a:rPr lang="en-US" sz="1050" dirty="0">
                <a:solidFill>
                  <a:srgbClr val="3B5249"/>
                </a:solidFill>
                <a:latin typeface="Calibri" pitchFamily="34" charset="0"/>
                <a:ea typeface="Calibri" pitchFamily="34" charset="-122"/>
                <a:cs typeface="Calibri" pitchFamily="34" charset="-120"/>
              </a:rPr>
              <a:t>Compares the angle between query vector and each document vector. High similarity = vectors point in the same direction = high relevance score.</a:t>
            </a:r>
            <a:endParaRPr lang="en-US" sz="1050" dirty="0"/>
          </a:p>
        </p:txBody>
      </p:sp>
      <p:sp>
        <p:nvSpPr>
          <p:cNvPr id="18" name="Shape 14"/>
          <p:cNvSpPr/>
          <p:nvPr/>
        </p:nvSpPr>
        <p:spPr>
          <a:xfrm>
            <a:off x="320040" y="2907792"/>
            <a:ext cx="416052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9" name="Shape 15"/>
          <p:cNvSpPr/>
          <p:nvPr/>
        </p:nvSpPr>
        <p:spPr>
          <a:xfrm>
            <a:off x="320040" y="2907792"/>
            <a:ext cx="4160520" cy="64008"/>
          </a:xfrm>
          <a:prstGeom prst="rect">
            <a:avLst/>
          </a:prstGeom>
          <a:solidFill>
            <a:srgbClr val="5A8060"/>
          </a:solidFill>
          <a:ln w="12700">
            <a:solidFill>
              <a:srgbClr val="5A8060"/>
            </a:solidFill>
            <a:prstDash val="solid"/>
          </a:ln>
        </p:spPr>
      </p:sp>
      <p:sp>
        <p:nvSpPr>
          <p:cNvPr id="20" name="Shape 16"/>
          <p:cNvSpPr/>
          <p:nvPr/>
        </p:nvSpPr>
        <p:spPr>
          <a:xfrm>
            <a:off x="411480" y="3026664"/>
            <a:ext cx="384048" cy="384048"/>
          </a:xfrm>
          <a:prstGeom prst="ellipse">
            <a:avLst/>
          </a:prstGeom>
          <a:solidFill>
            <a:srgbClr val="5A8060"/>
          </a:solidFill>
          <a:ln w="12700">
            <a:solidFill>
              <a:srgbClr val="5A8060"/>
            </a:solidFill>
            <a:prstDash val="solid"/>
          </a:ln>
        </p:spPr>
      </p:sp>
      <p:pic>
        <p:nvPicPr>
          <p:cNvPr id="21" name="Image 2" descr="preencoded.png">    </p:cNvPr>
          <p:cNvPicPr>
            <a:picLocks noChangeAspect="1"/>
          </p:cNvPicPr>
          <p:nvPr/>
        </p:nvPicPr>
        <p:blipFill>
          <a:blip r:embed="rId3"/>
          <a:stretch>
            <a:fillRect/>
          </a:stretch>
        </p:blipFill>
        <p:spPr>
          <a:xfrm>
            <a:off x="475488" y="3090672"/>
            <a:ext cx="256032" cy="256032"/>
          </a:xfrm>
          <a:prstGeom prst="rect">
            <a:avLst/>
          </a:prstGeom>
        </p:spPr>
      </p:pic>
      <p:sp>
        <p:nvSpPr>
          <p:cNvPr id="22" name="Text 17"/>
          <p:cNvSpPr/>
          <p:nvPr/>
        </p:nvSpPr>
        <p:spPr>
          <a:xfrm>
            <a:off x="886968" y="3035808"/>
            <a:ext cx="3474720" cy="320040"/>
          </a:xfrm>
          <a:prstGeom prst="rect">
            <a:avLst/>
          </a:prstGeom>
          <a:noFill/>
          <a:ln/>
        </p:spPr>
        <p:txBody>
          <a:bodyPr wrap="square" lIns="0" tIns="0" rIns="0" bIns="0" rtlCol="0" anchor="ctr"/>
          <a:lstStyle/>
          <a:p>
            <a:pPr indent="0" marL="0">
              <a:buNone/>
            </a:pPr>
            <a:r>
              <a:rPr lang="en-US" sz="1200" b="1" dirty="0">
                <a:solidFill>
                  <a:srgbClr val="1A3C2B"/>
                </a:solidFill>
                <a:latin typeface="Calibri" pitchFamily="34" charset="0"/>
                <a:ea typeface="Calibri" pitchFamily="34" charset="-122"/>
                <a:cs typeface="Calibri" pitchFamily="34" charset="-120"/>
              </a:rPr>
              <a:t>Keyword Overlap Scoring</a:t>
            </a:r>
            <a:endParaRPr lang="en-US" sz="1200" dirty="0"/>
          </a:p>
        </p:txBody>
      </p:sp>
      <p:sp>
        <p:nvSpPr>
          <p:cNvPr id="23" name="Text 18"/>
          <p:cNvSpPr/>
          <p:nvPr/>
        </p:nvSpPr>
        <p:spPr>
          <a:xfrm>
            <a:off x="411480" y="3456432"/>
            <a:ext cx="3931920" cy="960120"/>
          </a:xfrm>
          <a:prstGeom prst="rect">
            <a:avLst/>
          </a:prstGeom>
          <a:noFill/>
          <a:ln/>
        </p:spPr>
        <p:txBody>
          <a:bodyPr wrap="square" lIns="50800" tIns="50800" rIns="50800" bIns="50800" rtlCol="0" anchor="ctr"/>
          <a:lstStyle/>
          <a:p>
            <a:pPr indent="0" marL="0">
              <a:buNone/>
            </a:pPr>
            <a:r>
              <a:rPr lang="en-US" sz="1050" dirty="0">
                <a:solidFill>
                  <a:srgbClr val="3B5249"/>
                </a:solidFill>
                <a:latin typeface="Calibri" pitchFamily="34" charset="0"/>
                <a:ea typeface="Calibri" pitchFamily="34" charset="-122"/>
                <a:cs typeface="Calibri" pitchFamily="34" charset="-120"/>
              </a:rPr>
              <a:t>Counts how many query keywords appear in each document. Added as a bonus score on top of cosine similarity for stronger keyword matches.</a:t>
            </a:r>
            <a:endParaRPr lang="en-US" sz="1050" dirty="0"/>
          </a:p>
        </p:txBody>
      </p:sp>
      <p:sp>
        <p:nvSpPr>
          <p:cNvPr id="24" name="Shape 19"/>
          <p:cNvSpPr/>
          <p:nvPr/>
        </p:nvSpPr>
        <p:spPr>
          <a:xfrm>
            <a:off x="4690872" y="2907792"/>
            <a:ext cx="4160520" cy="160020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5" name="Shape 20"/>
          <p:cNvSpPr/>
          <p:nvPr/>
        </p:nvSpPr>
        <p:spPr>
          <a:xfrm>
            <a:off x="4690872" y="2907792"/>
            <a:ext cx="4160520" cy="64008"/>
          </a:xfrm>
          <a:prstGeom prst="rect">
            <a:avLst/>
          </a:prstGeom>
          <a:solidFill>
            <a:srgbClr val="7DA87C"/>
          </a:solidFill>
          <a:ln w="12700">
            <a:solidFill>
              <a:srgbClr val="7DA87C"/>
            </a:solidFill>
            <a:prstDash val="solid"/>
          </a:ln>
        </p:spPr>
      </p:sp>
      <p:sp>
        <p:nvSpPr>
          <p:cNvPr id="26" name="Shape 21"/>
          <p:cNvSpPr/>
          <p:nvPr/>
        </p:nvSpPr>
        <p:spPr>
          <a:xfrm>
            <a:off x="4782312" y="3026664"/>
            <a:ext cx="384048" cy="384048"/>
          </a:xfrm>
          <a:prstGeom prst="ellipse">
            <a:avLst/>
          </a:prstGeom>
          <a:solidFill>
            <a:srgbClr val="7DA87C"/>
          </a:solidFill>
          <a:ln w="12700">
            <a:solidFill>
              <a:srgbClr val="7DA87C"/>
            </a:solidFill>
            <a:prstDash val="solid"/>
          </a:ln>
        </p:spPr>
      </p:sp>
      <p:pic>
        <p:nvPicPr>
          <p:cNvPr id="27" name="Image 3" descr="preencoded.png">    </p:cNvPr>
          <p:cNvPicPr>
            <a:picLocks noChangeAspect="1"/>
          </p:cNvPicPr>
          <p:nvPr/>
        </p:nvPicPr>
        <p:blipFill>
          <a:blip r:embed="rId4"/>
          <a:stretch>
            <a:fillRect/>
          </a:stretch>
        </p:blipFill>
        <p:spPr>
          <a:xfrm>
            <a:off x="4846320" y="3090672"/>
            <a:ext cx="256032" cy="256032"/>
          </a:xfrm>
          <a:prstGeom prst="rect">
            <a:avLst/>
          </a:prstGeom>
        </p:spPr>
      </p:pic>
      <p:sp>
        <p:nvSpPr>
          <p:cNvPr id="28" name="Text 22"/>
          <p:cNvSpPr/>
          <p:nvPr/>
        </p:nvSpPr>
        <p:spPr>
          <a:xfrm>
            <a:off x="5257800" y="3035808"/>
            <a:ext cx="3474720" cy="320040"/>
          </a:xfrm>
          <a:prstGeom prst="rect">
            <a:avLst/>
          </a:prstGeom>
          <a:noFill/>
          <a:ln/>
        </p:spPr>
        <p:txBody>
          <a:bodyPr wrap="square" lIns="0" tIns="0" rIns="0" bIns="0" rtlCol="0" anchor="ctr"/>
          <a:lstStyle/>
          <a:p>
            <a:pPr indent="0" marL="0">
              <a:buNone/>
            </a:pPr>
            <a:r>
              <a:rPr lang="en-US" sz="1200" b="1" dirty="0">
                <a:solidFill>
                  <a:srgbClr val="1A3C2B"/>
                </a:solidFill>
                <a:latin typeface="Calibri" pitchFamily="34" charset="0"/>
                <a:ea typeface="Calibri" pitchFamily="34" charset="-122"/>
                <a:cs typeface="Calibri" pitchFamily="34" charset="-120"/>
              </a:rPr>
              <a:t>Metadata Boosting</a:t>
            </a:r>
            <a:endParaRPr lang="en-US" sz="1200" dirty="0"/>
          </a:p>
        </p:txBody>
      </p:sp>
      <p:sp>
        <p:nvSpPr>
          <p:cNvPr id="29" name="Text 23"/>
          <p:cNvSpPr/>
          <p:nvPr/>
        </p:nvSpPr>
        <p:spPr>
          <a:xfrm>
            <a:off x="4782312" y="3456432"/>
            <a:ext cx="3931920" cy="960120"/>
          </a:xfrm>
          <a:prstGeom prst="rect">
            <a:avLst/>
          </a:prstGeom>
          <a:noFill/>
          <a:ln/>
        </p:spPr>
        <p:txBody>
          <a:bodyPr wrap="square" lIns="50800" tIns="50800" rIns="50800" bIns="50800" rtlCol="0" anchor="ctr"/>
          <a:lstStyle/>
          <a:p>
            <a:pPr indent="0" marL="0">
              <a:buNone/>
            </a:pPr>
            <a:r>
              <a:rPr lang="en-US" sz="1050" dirty="0">
                <a:solidFill>
                  <a:srgbClr val="3B5249"/>
                </a:solidFill>
                <a:latin typeface="Calibri" pitchFamily="34" charset="0"/>
                <a:ea typeface="Calibri" pitchFamily="34" charset="-122"/>
                <a:cs typeface="Calibri" pitchFamily="34" charset="-120"/>
              </a:rPr>
              <a:t>Documents receive extra weight if crop, problem_type, problem_name, product, season, or region fields match the query. Ensures domain-relevant records rank higher.</a:t>
            </a:r>
            <a:endParaRPr lang="en-US" sz="1050" dirty="0"/>
          </a:p>
        </p:txBody>
      </p:sp>
      <p:sp>
        <p:nvSpPr>
          <p:cNvPr id="30" name="Shape 24"/>
          <p:cNvSpPr/>
          <p:nvPr/>
        </p:nvSpPr>
        <p:spPr>
          <a:xfrm>
            <a:off x="320040" y="4663440"/>
            <a:ext cx="8503920" cy="384048"/>
          </a:xfrm>
          <a:prstGeom prst="rect">
            <a:avLst/>
          </a:prstGeom>
          <a:solidFill>
            <a:srgbClr val="EDF7F0"/>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1" name="Text 25"/>
          <p:cNvSpPr/>
          <p:nvPr/>
        </p:nvSpPr>
        <p:spPr>
          <a:xfrm>
            <a:off x="411480" y="4681728"/>
            <a:ext cx="8321040" cy="329184"/>
          </a:xfrm>
          <a:prstGeom prst="rect">
            <a:avLst/>
          </a:prstGeom>
          <a:noFill/>
          <a:ln/>
        </p:spPr>
        <p:txBody>
          <a:bodyPr wrap="square" lIns="0" tIns="0" rIns="0" bIns="0" rtlCol="0" anchor="ctr"/>
          <a:lstStyle/>
          <a:p>
            <a:pPr indent="0" marL="0">
              <a:buNone/>
            </a:pPr>
            <a:r>
              <a:rPr lang="en-US" sz="1000" i="1" dirty="0">
                <a:solidFill>
                  <a:srgbClr val="2C5F2D"/>
                </a:solidFill>
                <a:latin typeface="Calibri" pitchFamily="34" charset="0"/>
                <a:ea typeface="Calibri" pitchFamily="34" charset="-122"/>
                <a:cs typeface="Calibri" pitchFamily="34" charset="-120"/>
              </a:rPr>
              <a:t>Why TF-IDF (not FAISS/ChromaDB)?  Lightweight, transparent, no GPU needed, easy to explain for an academic prototype. FAISS + sentence-transformers planned as a future upgrade.</a:t>
            </a:r>
            <a:endParaRPr lang="en-US" sz="1000" dirty="0"/>
          </a:p>
        </p:txBody>
      </p:sp>
      <p:sp>
        <p:nvSpPr>
          <p:cNvPr id="32" name="Shape 26"/>
          <p:cNvSpPr/>
          <p:nvPr/>
        </p:nvSpPr>
        <p:spPr>
          <a:xfrm>
            <a:off x="6858000" y="4663440"/>
            <a:ext cx="2011680" cy="320040"/>
          </a:xfrm>
          <a:prstGeom prst="rect">
            <a:avLst/>
          </a:prstGeom>
          <a:solidFill>
            <a:srgbClr val="2C5F2D"/>
          </a:solidFill>
          <a:ln w="12700">
            <a:solidFill>
              <a:srgbClr val="2C5F2D"/>
            </a:solidFill>
            <a:prstDash val="solid"/>
          </a:ln>
        </p:spPr>
      </p:sp>
      <p:sp>
        <p:nvSpPr>
          <p:cNvPr id="33" name="Text 27"/>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OpenAI Advisory Generation</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Speaker 4 — 12-section AI agricultural report</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88720"/>
            <a:ext cx="3474720" cy="36118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188720"/>
            <a:ext cx="3474720" cy="384048"/>
          </a:xfrm>
          <a:prstGeom prst="rect">
            <a:avLst/>
          </a:prstGeom>
          <a:solidFill>
            <a:srgbClr val="2C5F2D"/>
          </a:solidFill>
          <a:ln w="12700">
            <a:solidFill>
              <a:srgbClr val="2C5F2D"/>
            </a:solidFill>
            <a:prstDash val="solid"/>
          </a:ln>
        </p:spPr>
      </p:sp>
      <p:sp>
        <p:nvSpPr>
          <p:cNvPr id="8" name="Shape 6"/>
          <p:cNvSpPr/>
          <p:nvPr/>
        </p:nvSpPr>
        <p:spPr>
          <a:xfrm>
            <a:off x="438912" y="1243584"/>
            <a:ext cx="384048" cy="384048"/>
          </a:xfrm>
          <a:prstGeom prst="ellipse">
            <a:avLst/>
          </a:prstGeom>
          <a:solidFill>
            <a:srgbClr val="2C5F2D"/>
          </a:solidFill>
          <a:ln w="12700">
            <a:solidFill>
              <a:srgbClr val="2C5F2D"/>
            </a:solidFill>
            <a:prstDash val="solid"/>
          </a:ln>
        </p:spPr>
      </p:sp>
      <p:pic>
        <p:nvPicPr>
          <p:cNvPr id="9" name="Image 0" descr="preencoded.png">    </p:cNvPr>
          <p:cNvPicPr>
            <a:picLocks noChangeAspect="1"/>
          </p:cNvPicPr>
          <p:nvPr/>
        </p:nvPicPr>
        <p:blipFill>
          <a:blip r:embed="rId1"/>
          <a:stretch>
            <a:fillRect/>
          </a:stretch>
        </p:blipFill>
        <p:spPr>
          <a:xfrm>
            <a:off x="502920" y="1307592"/>
            <a:ext cx="256032" cy="256032"/>
          </a:xfrm>
          <a:prstGeom prst="rect">
            <a:avLst/>
          </a:prstGeom>
        </p:spPr>
      </p:pic>
      <p:sp>
        <p:nvSpPr>
          <p:cNvPr id="10" name="Text 7"/>
          <p:cNvSpPr/>
          <p:nvPr/>
        </p:nvSpPr>
        <p:spPr>
          <a:xfrm>
            <a:off x="896112" y="1243584"/>
            <a:ext cx="274320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How It Works</a:t>
            </a:r>
            <a:endParaRPr lang="en-US" sz="1300" dirty="0"/>
          </a:p>
        </p:txBody>
      </p:sp>
      <p:sp>
        <p:nvSpPr>
          <p:cNvPr id="11" name="Text 8"/>
          <p:cNvSpPr/>
          <p:nvPr/>
        </p:nvSpPr>
        <p:spPr>
          <a:xfrm>
            <a:off x="438912" y="1664208"/>
            <a:ext cx="3246120" cy="3017520"/>
          </a:xfrm>
          <a:prstGeom prst="rect">
            <a:avLst/>
          </a:prstGeom>
          <a:noFill/>
          <a:ln/>
        </p:spPr>
        <p:txBody>
          <a:bodyPr wrap="square" lIns="50800" tIns="50800" rIns="50800" bIns="50800" rtlCol="0" anchor="ctr"/>
          <a:lstStyle/>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Retrieval step is fully local (no API cost)</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Only the top-K documents sent to OpenAI</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Model: gpt-4o-mini (cost-efficient)</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API key loaded from .env (OPENAI_API_KEY)</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Structured prompt instructs the model to generate 12 advisory sections</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Output tokens limited to control cost</a:t>
            </a:r>
            <a:endParaRPr lang="en-US" sz="1050" dirty="0"/>
          </a:p>
        </p:txBody>
      </p:sp>
      <p:sp>
        <p:nvSpPr>
          <p:cNvPr id="12" name="Shape 9"/>
          <p:cNvSpPr/>
          <p:nvPr/>
        </p:nvSpPr>
        <p:spPr>
          <a:xfrm>
            <a:off x="3977640" y="1188720"/>
            <a:ext cx="4892040" cy="36118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3" name="Shape 10"/>
          <p:cNvSpPr/>
          <p:nvPr/>
        </p:nvSpPr>
        <p:spPr>
          <a:xfrm>
            <a:off x="3977640" y="1188720"/>
            <a:ext cx="4892040" cy="384048"/>
          </a:xfrm>
          <a:prstGeom prst="rect">
            <a:avLst/>
          </a:prstGeom>
          <a:solidFill>
            <a:srgbClr val="3D6B52"/>
          </a:solidFill>
          <a:ln w="12700">
            <a:solidFill>
              <a:srgbClr val="3D6B52"/>
            </a:solidFill>
            <a:prstDash val="solid"/>
          </a:ln>
        </p:spPr>
      </p:sp>
      <p:sp>
        <p:nvSpPr>
          <p:cNvPr id="14" name="Text 11"/>
          <p:cNvSpPr/>
          <p:nvPr/>
        </p:nvSpPr>
        <p:spPr>
          <a:xfrm>
            <a:off x="4069080" y="1216152"/>
            <a:ext cx="470916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12 Advisory Report Sections</a:t>
            </a:r>
            <a:endParaRPr lang="en-US" sz="1200" dirty="0"/>
          </a:p>
        </p:txBody>
      </p:sp>
      <p:sp>
        <p:nvSpPr>
          <p:cNvPr id="15" name="Shape 12"/>
          <p:cNvSpPr/>
          <p:nvPr/>
        </p:nvSpPr>
        <p:spPr>
          <a:xfrm>
            <a:off x="4005072" y="1682496"/>
            <a:ext cx="2331720" cy="411480"/>
          </a:xfrm>
          <a:prstGeom prst="rect">
            <a:avLst/>
          </a:prstGeom>
          <a:solidFill>
            <a:srgbClr val="D4EDD9"/>
          </a:solidFill>
          <a:ln w="12700">
            <a:solidFill>
              <a:srgbClr val="C8C0B4"/>
            </a:solidFill>
            <a:prstDash val="solid"/>
          </a:ln>
        </p:spPr>
      </p:sp>
      <p:sp>
        <p:nvSpPr>
          <p:cNvPr id="16" name="Text 13"/>
          <p:cNvSpPr/>
          <p:nvPr/>
        </p:nvSpPr>
        <p:spPr>
          <a:xfrm>
            <a:off x="4041648" y="170992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1. Query Understanding</a:t>
            </a:r>
            <a:endParaRPr lang="en-US" sz="950" dirty="0"/>
          </a:p>
        </p:txBody>
      </p:sp>
      <p:sp>
        <p:nvSpPr>
          <p:cNvPr id="17" name="Shape 14"/>
          <p:cNvSpPr/>
          <p:nvPr/>
        </p:nvSpPr>
        <p:spPr>
          <a:xfrm>
            <a:off x="6492240" y="1682496"/>
            <a:ext cx="2331720" cy="411480"/>
          </a:xfrm>
          <a:prstGeom prst="rect">
            <a:avLst/>
          </a:prstGeom>
          <a:solidFill>
            <a:srgbClr val="EDE8E0"/>
          </a:solidFill>
          <a:ln w="12700">
            <a:solidFill>
              <a:srgbClr val="C8C0B4"/>
            </a:solidFill>
            <a:prstDash val="solid"/>
          </a:ln>
        </p:spPr>
      </p:sp>
      <p:sp>
        <p:nvSpPr>
          <p:cNvPr id="18" name="Text 15"/>
          <p:cNvSpPr/>
          <p:nvPr/>
        </p:nvSpPr>
        <p:spPr>
          <a:xfrm>
            <a:off x="6528816" y="170992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4. Severity &amp; Urgency</a:t>
            </a:r>
            <a:endParaRPr lang="en-US" sz="950" dirty="0"/>
          </a:p>
        </p:txBody>
      </p:sp>
      <p:sp>
        <p:nvSpPr>
          <p:cNvPr id="19" name="Shape 16"/>
          <p:cNvSpPr/>
          <p:nvPr/>
        </p:nvSpPr>
        <p:spPr>
          <a:xfrm>
            <a:off x="4005072" y="2185416"/>
            <a:ext cx="2331720" cy="411480"/>
          </a:xfrm>
          <a:prstGeom prst="rect">
            <a:avLst/>
          </a:prstGeom>
          <a:solidFill>
            <a:srgbClr val="EDE8E0"/>
          </a:solidFill>
          <a:ln w="12700">
            <a:solidFill>
              <a:srgbClr val="C8C0B4"/>
            </a:solidFill>
            <a:prstDash val="solid"/>
          </a:ln>
        </p:spPr>
      </p:sp>
      <p:sp>
        <p:nvSpPr>
          <p:cNvPr id="20" name="Text 17"/>
          <p:cNvSpPr/>
          <p:nvPr/>
        </p:nvSpPr>
        <p:spPr>
          <a:xfrm>
            <a:off x="4041648" y="221284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7. Agricultural Best Practices</a:t>
            </a:r>
            <a:endParaRPr lang="en-US" sz="950" dirty="0"/>
          </a:p>
        </p:txBody>
      </p:sp>
      <p:sp>
        <p:nvSpPr>
          <p:cNvPr id="21" name="Shape 18"/>
          <p:cNvSpPr/>
          <p:nvPr/>
        </p:nvSpPr>
        <p:spPr>
          <a:xfrm>
            <a:off x="6492240" y="2185416"/>
            <a:ext cx="2331720" cy="411480"/>
          </a:xfrm>
          <a:prstGeom prst="rect">
            <a:avLst/>
          </a:prstGeom>
          <a:solidFill>
            <a:srgbClr val="D4EDD9"/>
          </a:solidFill>
          <a:ln w="12700">
            <a:solidFill>
              <a:srgbClr val="C8C0B4"/>
            </a:solidFill>
            <a:prstDash val="solid"/>
          </a:ln>
        </p:spPr>
      </p:sp>
      <p:sp>
        <p:nvSpPr>
          <p:cNvPr id="22" name="Text 19"/>
          <p:cNvSpPr/>
          <p:nvPr/>
        </p:nvSpPr>
        <p:spPr>
          <a:xfrm>
            <a:off x="6528816" y="221284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10. Limitations of Advisory</a:t>
            </a:r>
            <a:endParaRPr lang="en-US" sz="950" dirty="0"/>
          </a:p>
        </p:txBody>
      </p:sp>
      <p:sp>
        <p:nvSpPr>
          <p:cNvPr id="23" name="Shape 20"/>
          <p:cNvSpPr/>
          <p:nvPr/>
        </p:nvSpPr>
        <p:spPr>
          <a:xfrm>
            <a:off x="4005072" y="2688336"/>
            <a:ext cx="2331720" cy="411480"/>
          </a:xfrm>
          <a:prstGeom prst="rect">
            <a:avLst/>
          </a:prstGeom>
          <a:solidFill>
            <a:srgbClr val="D4EDD9"/>
          </a:solidFill>
          <a:ln w="12700">
            <a:solidFill>
              <a:srgbClr val="C8C0B4"/>
            </a:solidFill>
            <a:prstDash val="solid"/>
          </a:ln>
        </p:spPr>
      </p:sp>
      <p:sp>
        <p:nvSpPr>
          <p:cNvPr id="24" name="Text 21"/>
          <p:cNvSpPr/>
          <p:nvPr/>
        </p:nvSpPr>
        <p:spPr>
          <a:xfrm>
            <a:off x="4041648" y="271576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2. Retrieved Evidence Summary</a:t>
            </a:r>
            <a:endParaRPr lang="en-US" sz="950" dirty="0"/>
          </a:p>
        </p:txBody>
      </p:sp>
      <p:sp>
        <p:nvSpPr>
          <p:cNvPr id="25" name="Shape 22"/>
          <p:cNvSpPr/>
          <p:nvPr/>
        </p:nvSpPr>
        <p:spPr>
          <a:xfrm>
            <a:off x="6492240" y="2688336"/>
            <a:ext cx="2331720" cy="411480"/>
          </a:xfrm>
          <a:prstGeom prst="rect">
            <a:avLst/>
          </a:prstGeom>
          <a:solidFill>
            <a:srgbClr val="EDE8E0"/>
          </a:solidFill>
          <a:ln w="12700">
            <a:solidFill>
              <a:srgbClr val="C8C0B4"/>
            </a:solidFill>
            <a:prstDash val="solid"/>
          </a:ln>
        </p:spPr>
      </p:sp>
      <p:sp>
        <p:nvSpPr>
          <p:cNvPr id="26" name="Text 23"/>
          <p:cNvSpPr/>
          <p:nvPr/>
        </p:nvSpPr>
        <p:spPr>
          <a:xfrm>
            <a:off x="6528816" y="271576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5. Detailed Action Plan</a:t>
            </a:r>
            <a:endParaRPr lang="en-US" sz="950" dirty="0"/>
          </a:p>
        </p:txBody>
      </p:sp>
      <p:sp>
        <p:nvSpPr>
          <p:cNvPr id="27" name="Shape 24"/>
          <p:cNvSpPr/>
          <p:nvPr/>
        </p:nvSpPr>
        <p:spPr>
          <a:xfrm>
            <a:off x="4005072" y="3191256"/>
            <a:ext cx="2331720" cy="411480"/>
          </a:xfrm>
          <a:prstGeom prst="rect">
            <a:avLst/>
          </a:prstGeom>
          <a:solidFill>
            <a:srgbClr val="EDE8E0"/>
          </a:solidFill>
          <a:ln w="12700">
            <a:solidFill>
              <a:srgbClr val="C8C0B4"/>
            </a:solidFill>
            <a:prstDash val="solid"/>
          </a:ln>
        </p:spPr>
      </p:sp>
      <p:sp>
        <p:nvSpPr>
          <p:cNvPr id="28" name="Text 25"/>
          <p:cNvSpPr/>
          <p:nvPr/>
        </p:nvSpPr>
        <p:spPr>
          <a:xfrm>
            <a:off x="4041648" y="321868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8. Precautions</a:t>
            </a:r>
            <a:endParaRPr lang="en-US" sz="950" dirty="0"/>
          </a:p>
        </p:txBody>
      </p:sp>
      <p:sp>
        <p:nvSpPr>
          <p:cNvPr id="29" name="Shape 26"/>
          <p:cNvSpPr/>
          <p:nvPr/>
        </p:nvSpPr>
        <p:spPr>
          <a:xfrm>
            <a:off x="6492240" y="3191256"/>
            <a:ext cx="2331720" cy="411480"/>
          </a:xfrm>
          <a:prstGeom prst="rect">
            <a:avLst/>
          </a:prstGeom>
          <a:solidFill>
            <a:srgbClr val="D4EDD9"/>
          </a:solidFill>
          <a:ln w="12700">
            <a:solidFill>
              <a:srgbClr val="C8C0B4"/>
            </a:solidFill>
            <a:prstDash val="solid"/>
          </a:ln>
        </p:spPr>
      </p:sp>
      <p:sp>
        <p:nvSpPr>
          <p:cNvPr id="30" name="Text 27"/>
          <p:cNvSpPr/>
          <p:nvPr/>
        </p:nvSpPr>
        <p:spPr>
          <a:xfrm>
            <a:off x="6528816" y="321868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11. Final Advisory</a:t>
            </a:r>
            <a:endParaRPr lang="en-US" sz="950" dirty="0"/>
          </a:p>
        </p:txBody>
      </p:sp>
      <p:sp>
        <p:nvSpPr>
          <p:cNvPr id="31" name="Shape 28"/>
          <p:cNvSpPr/>
          <p:nvPr/>
        </p:nvSpPr>
        <p:spPr>
          <a:xfrm>
            <a:off x="4005072" y="3694176"/>
            <a:ext cx="2331720" cy="411480"/>
          </a:xfrm>
          <a:prstGeom prst="rect">
            <a:avLst/>
          </a:prstGeom>
          <a:solidFill>
            <a:srgbClr val="D4EDD9"/>
          </a:solidFill>
          <a:ln w="12700">
            <a:solidFill>
              <a:srgbClr val="C8C0B4"/>
            </a:solidFill>
            <a:prstDash val="solid"/>
          </a:ln>
        </p:spPr>
      </p:sp>
      <p:sp>
        <p:nvSpPr>
          <p:cNvPr id="32" name="Text 29"/>
          <p:cNvSpPr/>
          <p:nvPr/>
        </p:nvSpPr>
        <p:spPr>
          <a:xfrm>
            <a:off x="4041648" y="372160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3. Evidence-Based Diagnosis</a:t>
            </a:r>
            <a:endParaRPr lang="en-US" sz="950" dirty="0"/>
          </a:p>
        </p:txBody>
      </p:sp>
      <p:sp>
        <p:nvSpPr>
          <p:cNvPr id="33" name="Shape 30"/>
          <p:cNvSpPr/>
          <p:nvPr/>
        </p:nvSpPr>
        <p:spPr>
          <a:xfrm>
            <a:off x="6492240" y="3694176"/>
            <a:ext cx="2331720" cy="411480"/>
          </a:xfrm>
          <a:prstGeom prst="rect">
            <a:avLst/>
          </a:prstGeom>
          <a:solidFill>
            <a:srgbClr val="EDE8E0"/>
          </a:solidFill>
          <a:ln w="12700">
            <a:solidFill>
              <a:srgbClr val="C8C0B4"/>
            </a:solidFill>
            <a:prstDash val="solid"/>
          </a:ln>
        </p:spPr>
      </p:sp>
      <p:sp>
        <p:nvSpPr>
          <p:cNvPr id="34" name="Text 31"/>
          <p:cNvSpPr/>
          <p:nvPr/>
        </p:nvSpPr>
        <p:spPr>
          <a:xfrm>
            <a:off x="6528816" y="372160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6. Product / Treatment Guidance</a:t>
            </a:r>
            <a:endParaRPr lang="en-US" sz="950" dirty="0"/>
          </a:p>
        </p:txBody>
      </p:sp>
      <p:sp>
        <p:nvSpPr>
          <p:cNvPr id="35" name="Shape 32"/>
          <p:cNvSpPr/>
          <p:nvPr/>
        </p:nvSpPr>
        <p:spPr>
          <a:xfrm>
            <a:off x="4005072" y="4197096"/>
            <a:ext cx="2331720" cy="411480"/>
          </a:xfrm>
          <a:prstGeom prst="rect">
            <a:avLst/>
          </a:prstGeom>
          <a:solidFill>
            <a:srgbClr val="EDE8E0"/>
          </a:solidFill>
          <a:ln w="12700">
            <a:solidFill>
              <a:srgbClr val="C8C0B4"/>
            </a:solidFill>
            <a:prstDash val="solid"/>
          </a:ln>
        </p:spPr>
      </p:sp>
      <p:sp>
        <p:nvSpPr>
          <p:cNvPr id="36" name="Text 33"/>
          <p:cNvSpPr/>
          <p:nvPr/>
        </p:nvSpPr>
        <p:spPr>
          <a:xfrm>
            <a:off x="4041648" y="422452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9. Farmer Field Checklist</a:t>
            </a:r>
            <a:endParaRPr lang="en-US" sz="950" dirty="0"/>
          </a:p>
        </p:txBody>
      </p:sp>
      <p:sp>
        <p:nvSpPr>
          <p:cNvPr id="37" name="Shape 34"/>
          <p:cNvSpPr/>
          <p:nvPr/>
        </p:nvSpPr>
        <p:spPr>
          <a:xfrm>
            <a:off x="6492240" y="4197096"/>
            <a:ext cx="2331720" cy="411480"/>
          </a:xfrm>
          <a:prstGeom prst="rect">
            <a:avLst/>
          </a:prstGeom>
          <a:solidFill>
            <a:srgbClr val="D4EDD9"/>
          </a:solidFill>
          <a:ln w="12700">
            <a:solidFill>
              <a:srgbClr val="C8C0B4"/>
            </a:solidFill>
            <a:prstDash val="solid"/>
          </a:ln>
        </p:spPr>
      </p:sp>
      <p:sp>
        <p:nvSpPr>
          <p:cNvPr id="38" name="Text 35"/>
          <p:cNvSpPr/>
          <p:nvPr/>
        </p:nvSpPr>
        <p:spPr>
          <a:xfrm>
            <a:off x="6528816" y="4224528"/>
            <a:ext cx="2258568" cy="347472"/>
          </a:xfrm>
          <a:prstGeom prst="rect">
            <a:avLst/>
          </a:prstGeom>
          <a:noFill/>
          <a:ln/>
        </p:spPr>
        <p:txBody>
          <a:bodyPr wrap="square" lIns="25400" tIns="25400" rIns="25400" bIns="25400" rtlCol="0" anchor="ctr"/>
          <a:lstStyle/>
          <a:p>
            <a:pPr indent="0" marL="0">
              <a:buNone/>
            </a:pPr>
            <a:r>
              <a:rPr lang="en-US" sz="950" dirty="0">
                <a:solidFill>
                  <a:srgbClr val="1A3C2B"/>
                </a:solidFill>
                <a:latin typeface="Calibri" pitchFamily="34" charset="0"/>
                <a:ea typeface="Calibri" pitchFamily="34" charset="-122"/>
                <a:cs typeface="Calibri" pitchFamily="34" charset="-120"/>
              </a:rPr>
              <a:t>12. Safety Note</a:t>
            </a:r>
            <a:endParaRPr lang="en-US" sz="950" dirty="0"/>
          </a:p>
        </p:txBody>
      </p:sp>
      <p:sp>
        <p:nvSpPr>
          <p:cNvPr id="39" name="Shape 36"/>
          <p:cNvSpPr/>
          <p:nvPr/>
        </p:nvSpPr>
        <p:spPr>
          <a:xfrm>
            <a:off x="6858000" y="4663440"/>
            <a:ext cx="2011680" cy="320040"/>
          </a:xfrm>
          <a:prstGeom prst="rect">
            <a:avLst/>
          </a:prstGeom>
          <a:solidFill>
            <a:srgbClr val="2C5F2D"/>
          </a:solidFill>
          <a:ln w="12700">
            <a:solidFill>
              <a:srgbClr val="2C5F2D"/>
            </a:solidFill>
            <a:prstDash val="solid"/>
          </a:ln>
        </p:spPr>
      </p:sp>
      <p:sp>
        <p:nvSpPr>
          <p:cNvPr id="40" name="Text 37"/>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Evaluation Metrics</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Speaker 1 — How we measure CNN performance</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70432"/>
            <a:ext cx="1600200" cy="31089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170432"/>
            <a:ext cx="1600200" cy="384048"/>
          </a:xfrm>
          <a:prstGeom prst="rect">
            <a:avLst/>
          </a:prstGeom>
          <a:solidFill>
            <a:srgbClr val="2C5F2D"/>
          </a:solidFill>
          <a:ln w="12700">
            <a:solidFill>
              <a:srgbClr val="2C5F2D"/>
            </a:solidFill>
            <a:prstDash val="solid"/>
          </a:ln>
        </p:spPr>
      </p:sp>
      <p:pic>
        <p:nvPicPr>
          <p:cNvPr id="8" name="Image 0" descr="preencoded.png">    </p:cNvPr>
          <p:cNvPicPr>
            <a:picLocks noChangeAspect="1"/>
          </p:cNvPicPr>
          <p:nvPr/>
        </p:nvPicPr>
        <p:blipFill>
          <a:blip r:embed="rId1"/>
          <a:stretch>
            <a:fillRect/>
          </a:stretch>
        </p:blipFill>
        <p:spPr>
          <a:xfrm>
            <a:off x="978408" y="1216152"/>
            <a:ext cx="256032" cy="256032"/>
          </a:xfrm>
          <a:prstGeom prst="rect">
            <a:avLst/>
          </a:prstGeom>
        </p:spPr>
      </p:pic>
      <p:sp>
        <p:nvSpPr>
          <p:cNvPr id="9" name="Text 6"/>
          <p:cNvSpPr/>
          <p:nvPr/>
        </p:nvSpPr>
        <p:spPr>
          <a:xfrm>
            <a:off x="393192" y="1645920"/>
            <a:ext cx="1463040" cy="32004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Accuracy</a:t>
            </a:r>
            <a:endParaRPr lang="en-US" sz="1300" dirty="0"/>
          </a:p>
        </p:txBody>
      </p:sp>
      <p:sp>
        <p:nvSpPr>
          <p:cNvPr id="10" name="Shape 7"/>
          <p:cNvSpPr/>
          <p:nvPr/>
        </p:nvSpPr>
        <p:spPr>
          <a:xfrm>
            <a:off x="411480" y="2011680"/>
            <a:ext cx="1417320" cy="347472"/>
          </a:xfrm>
          <a:prstGeom prst="rect">
            <a:avLst/>
          </a:prstGeom>
          <a:solidFill>
            <a:srgbClr val="D4EDD9"/>
          </a:solidFill>
          <a:ln w="12700">
            <a:solidFill>
              <a:srgbClr val="6BAA75"/>
            </a:solidFill>
            <a:prstDash val="solid"/>
          </a:ln>
        </p:spPr>
      </p:sp>
      <p:sp>
        <p:nvSpPr>
          <p:cNvPr id="11" name="Text 8"/>
          <p:cNvSpPr/>
          <p:nvPr/>
        </p:nvSpPr>
        <p:spPr>
          <a:xfrm>
            <a:off x="411480" y="2011680"/>
            <a:ext cx="1417320" cy="347472"/>
          </a:xfrm>
          <a:prstGeom prst="rect">
            <a:avLst/>
          </a:prstGeom>
          <a:noFill/>
          <a:ln/>
        </p:spPr>
        <p:txBody>
          <a:bodyPr wrap="square" lIns="0" tIns="0" rIns="0" bIns="0"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Correct / Total</a:t>
            </a:r>
            <a:endParaRPr lang="en-US" sz="1000" dirty="0"/>
          </a:p>
        </p:txBody>
      </p:sp>
      <p:sp>
        <p:nvSpPr>
          <p:cNvPr id="12" name="Text 9"/>
          <p:cNvSpPr/>
          <p:nvPr/>
        </p:nvSpPr>
        <p:spPr>
          <a:xfrm>
            <a:off x="393192" y="2450592"/>
            <a:ext cx="1463040" cy="1737360"/>
          </a:xfrm>
          <a:prstGeom prst="rect">
            <a:avLst/>
          </a:prstGeom>
          <a:noFill/>
          <a:ln/>
        </p:spPr>
        <p:txBody>
          <a:bodyPr wrap="square" lIns="50800" tIns="50800" rIns="50800" bIns="5080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Overall % of correctly classified images across all disease classes.</a:t>
            </a:r>
            <a:endParaRPr lang="en-US" sz="1000" dirty="0"/>
          </a:p>
        </p:txBody>
      </p:sp>
      <p:sp>
        <p:nvSpPr>
          <p:cNvPr id="13" name="Shape 10"/>
          <p:cNvSpPr/>
          <p:nvPr/>
        </p:nvSpPr>
        <p:spPr>
          <a:xfrm>
            <a:off x="2039112" y="1170432"/>
            <a:ext cx="1600200" cy="31089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4" name="Shape 11"/>
          <p:cNvSpPr/>
          <p:nvPr/>
        </p:nvSpPr>
        <p:spPr>
          <a:xfrm>
            <a:off x="2039112" y="1170432"/>
            <a:ext cx="1600200" cy="384048"/>
          </a:xfrm>
          <a:prstGeom prst="rect">
            <a:avLst/>
          </a:prstGeom>
          <a:solidFill>
            <a:srgbClr val="3D6B52"/>
          </a:solidFill>
          <a:ln w="12700">
            <a:solidFill>
              <a:srgbClr val="3D6B52"/>
            </a:solidFill>
            <a:prstDash val="solid"/>
          </a:ln>
        </p:spPr>
      </p:sp>
      <p:pic>
        <p:nvPicPr>
          <p:cNvPr id="15" name="Image 1" descr="preencoded.png">    </p:cNvPr>
          <p:cNvPicPr>
            <a:picLocks noChangeAspect="1"/>
          </p:cNvPicPr>
          <p:nvPr/>
        </p:nvPicPr>
        <p:blipFill>
          <a:blip r:embed="rId2"/>
          <a:stretch>
            <a:fillRect/>
          </a:stretch>
        </p:blipFill>
        <p:spPr>
          <a:xfrm>
            <a:off x="2697480" y="1216152"/>
            <a:ext cx="256032" cy="256032"/>
          </a:xfrm>
          <a:prstGeom prst="rect">
            <a:avLst/>
          </a:prstGeom>
        </p:spPr>
      </p:pic>
      <p:sp>
        <p:nvSpPr>
          <p:cNvPr id="16" name="Text 12"/>
          <p:cNvSpPr/>
          <p:nvPr/>
        </p:nvSpPr>
        <p:spPr>
          <a:xfrm>
            <a:off x="2112264" y="1645920"/>
            <a:ext cx="1463040" cy="32004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Precision</a:t>
            </a:r>
            <a:endParaRPr lang="en-US" sz="1300" dirty="0"/>
          </a:p>
        </p:txBody>
      </p:sp>
      <p:sp>
        <p:nvSpPr>
          <p:cNvPr id="17" name="Shape 13"/>
          <p:cNvSpPr/>
          <p:nvPr/>
        </p:nvSpPr>
        <p:spPr>
          <a:xfrm>
            <a:off x="2130552" y="2011680"/>
            <a:ext cx="1417320" cy="347472"/>
          </a:xfrm>
          <a:prstGeom prst="rect">
            <a:avLst/>
          </a:prstGeom>
          <a:solidFill>
            <a:srgbClr val="D4EDD9"/>
          </a:solidFill>
          <a:ln w="12700">
            <a:solidFill>
              <a:srgbClr val="6BAA75"/>
            </a:solidFill>
            <a:prstDash val="solid"/>
          </a:ln>
        </p:spPr>
      </p:sp>
      <p:sp>
        <p:nvSpPr>
          <p:cNvPr id="18" name="Text 14"/>
          <p:cNvSpPr/>
          <p:nvPr/>
        </p:nvSpPr>
        <p:spPr>
          <a:xfrm>
            <a:off x="2130552" y="2011680"/>
            <a:ext cx="1417320" cy="347472"/>
          </a:xfrm>
          <a:prstGeom prst="rect">
            <a:avLst/>
          </a:prstGeom>
          <a:noFill/>
          <a:ln/>
        </p:spPr>
        <p:txBody>
          <a:bodyPr wrap="square" lIns="0" tIns="0" rIns="0" bIns="0"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TP / (TP + FP)</a:t>
            </a:r>
            <a:endParaRPr lang="en-US" sz="1000" dirty="0"/>
          </a:p>
        </p:txBody>
      </p:sp>
      <p:sp>
        <p:nvSpPr>
          <p:cNvPr id="19" name="Text 15"/>
          <p:cNvSpPr/>
          <p:nvPr/>
        </p:nvSpPr>
        <p:spPr>
          <a:xfrm>
            <a:off x="2112264" y="2450592"/>
            <a:ext cx="1463040" cy="1737360"/>
          </a:xfrm>
          <a:prstGeom prst="rect">
            <a:avLst/>
          </a:prstGeom>
          <a:noFill/>
          <a:ln/>
        </p:spPr>
        <p:txBody>
          <a:bodyPr wrap="square" lIns="50800" tIns="50800" rIns="50800" bIns="5080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Of all images predicted as class X, how many actually belonged to class X?</a:t>
            </a:r>
            <a:endParaRPr lang="en-US" sz="1000" dirty="0"/>
          </a:p>
        </p:txBody>
      </p:sp>
      <p:sp>
        <p:nvSpPr>
          <p:cNvPr id="20" name="Shape 16"/>
          <p:cNvSpPr/>
          <p:nvPr/>
        </p:nvSpPr>
        <p:spPr>
          <a:xfrm>
            <a:off x="3758184" y="1170432"/>
            <a:ext cx="1600200" cy="31089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1" name="Shape 17"/>
          <p:cNvSpPr/>
          <p:nvPr/>
        </p:nvSpPr>
        <p:spPr>
          <a:xfrm>
            <a:off x="3758184" y="1170432"/>
            <a:ext cx="1600200" cy="384048"/>
          </a:xfrm>
          <a:prstGeom prst="rect">
            <a:avLst/>
          </a:prstGeom>
          <a:solidFill>
            <a:srgbClr val="5A8060"/>
          </a:solidFill>
          <a:ln w="12700">
            <a:solidFill>
              <a:srgbClr val="5A8060"/>
            </a:solidFill>
            <a:prstDash val="solid"/>
          </a:ln>
        </p:spPr>
      </p:sp>
      <p:pic>
        <p:nvPicPr>
          <p:cNvPr id="22" name="Image 2" descr="preencoded.png">    </p:cNvPr>
          <p:cNvPicPr>
            <a:picLocks noChangeAspect="1"/>
          </p:cNvPicPr>
          <p:nvPr/>
        </p:nvPicPr>
        <p:blipFill>
          <a:blip r:embed="rId3"/>
          <a:stretch>
            <a:fillRect/>
          </a:stretch>
        </p:blipFill>
        <p:spPr>
          <a:xfrm>
            <a:off x="4416552" y="1216152"/>
            <a:ext cx="256032" cy="256032"/>
          </a:xfrm>
          <a:prstGeom prst="rect">
            <a:avLst/>
          </a:prstGeom>
        </p:spPr>
      </p:pic>
      <p:sp>
        <p:nvSpPr>
          <p:cNvPr id="23" name="Text 18"/>
          <p:cNvSpPr/>
          <p:nvPr/>
        </p:nvSpPr>
        <p:spPr>
          <a:xfrm>
            <a:off x="3831336" y="1645920"/>
            <a:ext cx="1463040" cy="32004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Recall</a:t>
            </a:r>
            <a:endParaRPr lang="en-US" sz="1300" dirty="0"/>
          </a:p>
        </p:txBody>
      </p:sp>
      <p:sp>
        <p:nvSpPr>
          <p:cNvPr id="24" name="Shape 19"/>
          <p:cNvSpPr/>
          <p:nvPr/>
        </p:nvSpPr>
        <p:spPr>
          <a:xfrm>
            <a:off x="3849624" y="2011680"/>
            <a:ext cx="1417320" cy="347472"/>
          </a:xfrm>
          <a:prstGeom prst="rect">
            <a:avLst/>
          </a:prstGeom>
          <a:solidFill>
            <a:srgbClr val="D4EDD9"/>
          </a:solidFill>
          <a:ln w="12700">
            <a:solidFill>
              <a:srgbClr val="6BAA75"/>
            </a:solidFill>
            <a:prstDash val="solid"/>
          </a:ln>
        </p:spPr>
      </p:sp>
      <p:sp>
        <p:nvSpPr>
          <p:cNvPr id="25" name="Text 20"/>
          <p:cNvSpPr/>
          <p:nvPr/>
        </p:nvSpPr>
        <p:spPr>
          <a:xfrm>
            <a:off x="3849624" y="2011680"/>
            <a:ext cx="1417320" cy="347472"/>
          </a:xfrm>
          <a:prstGeom prst="rect">
            <a:avLst/>
          </a:prstGeom>
          <a:noFill/>
          <a:ln/>
        </p:spPr>
        <p:txBody>
          <a:bodyPr wrap="square" lIns="0" tIns="0" rIns="0" bIns="0"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TP / (TP + FN)</a:t>
            </a:r>
            <a:endParaRPr lang="en-US" sz="1000" dirty="0"/>
          </a:p>
        </p:txBody>
      </p:sp>
      <p:sp>
        <p:nvSpPr>
          <p:cNvPr id="26" name="Text 21"/>
          <p:cNvSpPr/>
          <p:nvPr/>
        </p:nvSpPr>
        <p:spPr>
          <a:xfrm>
            <a:off x="3831336" y="2450592"/>
            <a:ext cx="1463040" cy="1737360"/>
          </a:xfrm>
          <a:prstGeom prst="rect">
            <a:avLst/>
          </a:prstGeom>
          <a:noFill/>
          <a:ln/>
        </p:spPr>
        <p:txBody>
          <a:bodyPr wrap="square" lIns="50800" tIns="50800" rIns="50800" bIns="5080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Of all true images of class X, how many did the model correctly detect?</a:t>
            </a:r>
            <a:endParaRPr lang="en-US" sz="1000" dirty="0"/>
          </a:p>
        </p:txBody>
      </p:sp>
      <p:sp>
        <p:nvSpPr>
          <p:cNvPr id="27" name="Shape 22"/>
          <p:cNvSpPr/>
          <p:nvPr/>
        </p:nvSpPr>
        <p:spPr>
          <a:xfrm>
            <a:off x="5477256" y="1170432"/>
            <a:ext cx="1600200" cy="31089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8" name="Shape 23"/>
          <p:cNvSpPr/>
          <p:nvPr/>
        </p:nvSpPr>
        <p:spPr>
          <a:xfrm>
            <a:off x="5477256" y="1170432"/>
            <a:ext cx="1600200" cy="384048"/>
          </a:xfrm>
          <a:prstGeom prst="rect">
            <a:avLst/>
          </a:prstGeom>
          <a:solidFill>
            <a:srgbClr val="7DA87C"/>
          </a:solidFill>
          <a:ln w="12700">
            <a:solidFill>
              <a:srgbClr val="7DA87C"/>
            </a:solidFill>
            <a:prstDash val="solid"/>
          </a:ln>
        </p:spPr>
      </p:sp>
      <p:pic>
        <p:nvPicPr>
          <p:cNvPr id="29" name="Image 3" descr="preencoded.png">    </p:cNvPr>
          <p:cNvPicPr>
            <a:picLocks noChangeAspect="1"/>
          </p:cNvPicPr>
          <p:nvPr/>
        </p:nvPicPr>
        <p:blipFill>
          <a:blip r:embed="rId4"/>
          <a:stretch>
            <a:fillRect/>
          </a:stretch>
        </p:blipFill>
        <p:spPr>
          <a:xfrm>
            <a:off x="6135624" y="1216152"/>
            <a:ext cx="256032" cy="256032"/>
          </a:xfrm>
          <a:prstGeom prst="rect">
            <a:avLst/>
          </a:prstGeom>
        </p:spPr>
      </p:pic>
      <p:sp>
        <p:nvSpPr>
          <p:cNvPr id="30" name="Text 24"/>
          <p:cNvSpPr/>
          <p:nvPr/>
        </p:nvSpPr>
        <p:spPr>
          <a:xfrm>
            <a:off x="5550408" y="1645920"/>
            <a:ext cx="1463040" cy="32004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F1-Score</a:t>
            </a:r>
            <a:endParaRPr lang="en-US" sz="1300" dirty="0"/>
          </a:p>
        </p:txBody>
      </p:sp>
      <p:sp>
        <p:nvSpPr>
          <p:cNvPr id="31" name="Shape 25"/>
          <p:cNvSpPr/>
          <p:nvPr/>
        </p:nvSpPr>
        <p:spPr>
          <a:xfrm>
            <a:off x="5568696" y="2011680"/>
            <a:ext cx="1417320" cy="347472"/>
          </a:xfrm>
          <a:prstGeom prst="rect">
            <a:avLst/>
          </a:prstGeom>
          <a:solidFill>
            <a:srgbClr val="D4EDD9"/>
          </a:solidFill>
          <a:ln w="12700">
            <a:solidFill>
              <a:srgbClr val="6BAA75"/>
            </a:solidFill>
            <a:prstDash val="solid"/>
          </a:ln>
        </p:spPr>
      </p:sp>
      <p:sp>
        <p:nvSpPr>
          <p:cNvPr id="32" name="Text 26"/>
          <p:cNvSpPr/>
          <p:nvPr/>
        </p:nvSpPr>
        <p:spPr>
          <a:xfrm>
            <a:off x="5568696" y="2011680"/>
            <a:ext cx="1417320" cy="347472"/>
          </a:xfrm>
          <a:prstGeom prst="rect">
            <a:avLst/>
          </a:prstGeom>
          <a:noFill/>
          <a:ln/>
        </p:spPr>
        <p:txBody>
          <a:bodyPr wrap="square" lIns="0" tIns="0" rIns="0" bIns="0"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2 × (P × R) / (P + R)</a:t>
            </a:r>
            <a:endParaRPr lang="en-US" sz="1000" dirty="0"/>
          </a:p>
        </p:txBody>
      </p:sp>
      <p:sp>
        <p:nvSpPr>
          <p:cNvPr id="33" name="Text 27"/>
          <p:cNvSpPr/>
          <p:nvPr/>
        </p:nvSpPr>
        <p:spPr>
          <a:xfrm>
            <a:off x="5550408" y="2450592"/>
            <a:ext cx="1463040" cy="1737360"/>
          </a:xfrm>
          <a:prstGeom prst="rect">
            <a:avLst/>
          </a:prstGeom>
          <a:noFill/>
          <a:ln/>
        </p:spPr>
        <p:txBody>
          <a:bodyPr wrap="square" lIns="50800" tIns="50800" rIns="50800" bIns="5080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Harmonic mean of Precision and Recall. Useful when classes are imbalanced.</a:t>
            </a:r>
            <a:endParaRPr lang="en-US" sz="1000" dirty="0"/>
          </a:p>
        </p:txBody>
      </p:sp>
      <p:sp>
        <p:nvSpPr>
          <p:cNvPr id="34" name="Shape 28"/>
          <p:cNvSpPr/>
          <p:nvPr/>
        </p:nvSpPr>
        <p:spPr>
          <a:xfrm>
            <a:off x="7196328" y="1170432"/>
            <a:ext cx="1600200" cy="310896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35" name="Shape 29"/>
          <p:cNvSpPr/>
          <p:nvPr/>
        </p:nvSpPr>
        <p:spPr>
          <a:xfrm>
            <a:off x="7196328" y="1170432"/>
            <a:ext cx="1600200" cy="384048"/>
          </a:xfrm>
          <a:prstGeom prst="rect">
            <a:avLst/>
          </a:prstGeom>
          <a:solidFill>
            <a:srgbClr val="97BC94"/>
          </a:solidFill>
          <a:ln w="12700">
            <a:solidFill>
              <a:srgbClr val="97BC94"/>
            </a:solidFill>
            <a:prstDash val="solid"/>
          </a:ln>
        </p:spPr>
      </p:sp>
      <p:pic>
        <p:nvPicPr>
          <p:cNvPr id="36" name="Image 4" descr="preencoded.png">    </p:cNvPr>
          <p:cNvPicPr>
            <a:picLocks noChangeAspect="1"/>
          </p:cNvPicPr>
          <p:nvPr/>
        </p:nvPicPr>
        <p:blipFill>
          <a:blip r:embed="rId5"/>
          <a:stretch>
            <a:fillRect/>
          </a:stretch>
        </p:blipFill>
        <p:spPr>
          <a:xfrm>
            <a:off x="7854696" y="1216152"/>
            <a:ext cx="256032" cy="256032"/>
          </a:xfrm>
          <a:prstGeom prst="rect">
            <a:avLst/>
          </a:prstGeom>
        </p:spPr>
      </p:pic>
      <p:sp>
        <p:nvSpPr>
          <p:cNvPr id="37" name="Text 30"/>
          <p:cNvSpPr/>
          <p:nvPr/>
        </p:nvSpPr>
        <p:spPr>
          <a:xfrm>
            <a:off x="7269480" y="1645920"/>
            <a:ext cx="1463040" cy="320040"/>
          </a:xfrm>
          <a:prstGeom prst="rect">
            <a:avLst/>
          </a:prstGeom>
          <a:noFill/>
          <a:ln/>
        </p:spPr>
        <p:txBody>
          <a:bodyPr wrap="square" lIns="0" tIns="0" rIns="0" bIns="0" rtlCol="0" anchor="ctr"/>
          <a:lstStyle/>
          <a:p>
            <a:pPr algn="ctr" indent="0" marL="0">
              <a:buNone/>
            </a:pPr>
            <a:r>
              <a:rPr lang="en-US" sz="1300" b="1" dirty="0">
                <a:solidFill>
                  <a:srgbClr val="1A3C2B"/>
                </a:solidFill>
                <a:latin typeface="Calibri" pitchFamily="34" charset="0"/>
                <a:ea typeface="Calibri" pitchFamily="34" charset="-122"/>
                <a:cs typeface="Calibri" pitchFamily="34" charset="-120"/>
              </a:rPr>
              <a:t>Support</a:t>
            </a:r>
            <a:endParaRPr lang="en-US" sz="1300" dirty="0"/>
          </a:p>
        </p:txBody>
      </p:sp>
      <p:sp>
        <p:nvSpPr>
          <p:cNvPr id="38" name="Shape 31"/>
          <p:cNvSpPr/>
          <p:nvPr/>
        </p:nvSpPr>
        <p:spPr>
          <a:xfrm>
            <a:off x="7287768" y="2011680"/>
            <a:ext cx="1417320" cy="347472"/>
          </a:xfrm>
          <a:prstGeom prst="rect">
            <a:avLst/>
          </a:prstGeom>
          <a:solidFill>
            <a:srgbClr val="D4EDD9"/>
          </a:solidFill>
          <a:ln w="12700">
            <a:solidFill>
              <a:srgbClr val="6BAA75"/>
            </a:solidFill>
            <a:prstDash val="solid"/>
          </a:ln>
        </p:spPr>
      </p:sp>
      <p:sp>
        <p:nvSpPr>
          <p:cNvPr id="39" name="Text 32"/>
          <p:cNvSpPr/>
          <p:nvPr/>
        </p:nvSpPr>
        <p:spPr>
          <a:xfrm>
            <a:off x="7287768" y="2011680"/>
            <a:ext cx="1417320" cy="347472"/>
          </a:xfrm>
          <a:prstGeom prst="rect">
            <a:avLst/>
          </a:prstGeom>
          <a:noFill/>
          <a:ln/>
        </p:spPr>
        <p:txBody>
          <a:bodyPr wrap="square" lIns="0" tIns="0" rIns="0" bIns="0"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 test samples per class</a:t>
            </a:r>
            <a:endParaRPr lang="en-US" sz="1000" dirty="0"/>
          </a:p>
        </p:txBody>
      </p:sp>
      <p:sp>
        <p:nvSpPr>
          <p:cNvPr id="40" name="Text 33"/>
          <p:cNvSpPr/>
          <p:nvPr/>
        </p:nvSpPr>
        <p:spPr>
          <a:xfrm>
            <a:off x="7269480" y="2450592"/>
            <a:ext cx="1463040" cy="1737360"/>
          </a:xfrm>
          <a:prstGeom prst="rect">
            <a:avLst/>
          </a:prstGeom>
          <a:noFill/>
          <a:ln/>
        </p:spPr>
        <p:txBody>
          <a:bodyPr wrap="square" lIns="50800" tIns="50800" rIns="50800" bIns="5080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Number of test images in each class. Shows how well the dataset is balanced.</a:t>
            </a:r>
            <a:endParaRPr lang="en-US" sz="1000" dirty="0"/>
          </a:p>
        </p:txBody>
      </p:sp>
      <p:sp>
        <p:nvSpPr>
          <p:cNvPr id="41" name="Shape 34"/>
          <p:cNvSpPr/>
          <p:nvPr/>
        </p:nvSpPr>
        <p:spPr>
          <a:xfrm>
            <a:off x="320040" y="4370832"/>
            <a:ext cx="8503920" cy="594360"/>
          </a:xfrm>
          <a:prstGeom prst="rect">
            <a:avLst/>
          </a:prstGeom>
          <a:solidFill>
            <a:srgbClr val="EDF7F0"/>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42" name="Text 35"/>
          <p:cNvSpPr/>
          <p:nvPr/>
        </p:nvSpPr>
        <p:spPr>
          <a:xfrm>
            <a:off x="438912" y="4407408"/>
            <a:ext cx="1828800" cy="256032"/>
          </a:xfrm>
          <a:prstGeom prst="rect">
            <a:avLst/>
          </a:prstGeom>
          <a:noFill/>
          <a:ln/>
        </p:spPr>
        <p:txBody>
          <a:bodyPr wrap="square" lIns="0" tIns="0" rIns="0" bIns="0" rtlCol="0" anchor="ctr"/>
          <a:lstStyle/>
          <a:p>
            <a:pPr indent="0" marL="0">
              <a:buNone/>
            </a:pPr>
            <a:r>
              <a:rPr lang="en-US" sz="1100" b="1" dirty="0">
                <a:solidFill>
                  <a:srgbClr val="1A3C2B"/>
                </a:solidFill>
                <a:latin typeface="Calibri" pitchFamily="34" charset="0"/>
                <a:ea typeface="Calibri" pitchFamily="34" charset="-122"/>
                <a:cs typeface="Calibri" pitchFamily="34" charset="-120"/>
              </a:rPr>
              <a:t>Confusion Matrix</a:t>
            </a:r>
            <a:endParaRPr lang="en-US" sz="1100" dirty="0"/>
          </a:p>
        </p:txBody>
      </p:sp>
      <p:sp>
        <p:nvSpPr>
          <p:cNvPr id="43" name="Text 36"/>
          <p:cNvSpPr/>
          <p:nvPr/>
        </p:nvSpPr>
        <p:spPr>
          <a:xfrm>
            <a:off x="438912" y="4663440"/>
            <a:ext cx="8229600" cy="256032"/>
          </a:xfrm>
          <a:prstGeom prst="rect">
            <a:avLst/>
          </a:prstGeom>
          <a:noFill/>
          <a:ln/>
        </p:spPr>
        <p:txBody>
          <a:bodyPr wrap="square" lIns="0" tIns="0" rIns="0" bIns="0" rtlCol="0" anchor="ctr"/>
          <a:lstStyle/>
          <a:p>
            <a:pPr indent="0" marL="0">
              <a:buNone/>
            </a:pPr>
            <a:r>
              <a:rPr lang="en-US" sz="1000" dirty="0">
                <a:solidFill>
                  <a:srgbClr val="3B5249"/>
                </a:solidFill>
                <a:latin typeface="Calibri" pitchFamily="34" charset="0"/>
                <a:ea typeface="Calibri" pitchFamily="34" charset="-122"/>
                <a:cs typeface="Calibri" pitchFamily="34" charset="-120"/>
              </a:rPr>
              <a:t>Shows which disease classes are being confused with each other. The diagonal = correct predictions. Off-diagonal = misclassifications. Saved as results/confusion_matrix.png</a:t>
            </a:r>
            <a:endParaRPr lang="en-US" sz="1000" dirty="0"/>
          </a:p>
        </p:txBody>
      </p:sp>
      <p:sp>
        <p:nvSpPr>
          <p:cNvPr id="44" name="Shape 37"/>
          <p:cNvSpPr/>
          <p:nvPr/>
        </p:nvSpPr>
        <p:spPr>
          <a:xfrm>
            <a:off x="6858000" y="4663440"/>
            <a:ext cx="2011680" cy="320040"/>
          </a:xfrm>
          <a:prstGeom prst="rect">
            <a:avLst/>
          </a:prstGeom>
          <a:solidFill>
            <a:srgbClr val="2C5F2D"/>
          </a:solidFill>
          <a:ln w="12700">
            <a:solidFill>
              <a:srgbClr val="2C5F2D"/>
            </a:solidFill>
            <a:prstDash val="solid"/>
          </a:ln>
        </p:spPr>
      </p:sp>
      <p:sp>
        <p:nvSpPr>
          <p:cNvPr id="45" name="Text 38"/>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Evaluation Graphs &amp; Results</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Speaker 1 — Visual performance of the CNN model</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graphicFrame>
        <p:nvGraphicFramePr>
          <p:cNvPr id="6" name="Chart 0" descr=""/>
          <p:cNvGraphicFramePr/>
          <p:nvPr/>
        </p:nvGraphicFramePr>
        <p:xfrm>
          <a:off x="320040" y="1143000"/>
          <a:ext cx="530352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06440" y="1143000"/>
            <a:ext cx="3017520" cy="141732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8" name="Text 5"/>
          <p:cNvSpPr/>
          <p:nvPr/>
        </p:nvSpPr>
        <p:spPr>
          <a:xfrm>
            <a:off x="5943600" y="1207008"/>
            <a:ext cx="2788920" cy="292608"/>
          </a:xfrm>
          <a:prstGeom prst="rect">
            <a:avLst/>
          </a:prstGeom>
          <a:noFill/>
          <a:ln/>
        </p:spPr>
        <p:txBody>
          <a:bodyPr wrap="square" lIns="0" tIns="0" rIns="0" bIns="0" rtlCol="0" anchor="ctr"/>
          <a:lstStyle/>
          <a:p>
            <a:pPr indent="0" marL="0">
              <a:buNone/>
            </a:pPr>
            <a:r>
              <a:rPr lang="en-US" sz="1200" b="1" dirty="0">
                <a:solidFill>
                  <a:srgbClr val="1A3C2B"/>
                </a:solidFill>
                <a:latin typeface="Calibri" pitchFamily="34" charset="0"/>
                <a:ea typeface="Calibri" pitchFamily="34" charset="-122"/>
                <a:cs typeface="Calibri" pitchFamily="34" charset="-120"/>
              </a:rPr>
              <a:t>Sample Overall Results</a:t>
            </a:r>
            <a:endParaRPr lang="en-US" sz="1200" dirty="0"/>
          </a:p>
        </p:txBody>
      </p:sp>
      <p:sp>
        <p:nvSpPr>
          <p:cNvPr id="9" name="Shape 6"/>
          <p:cNvSpPr/>
          <p:nvPr/>
        </p:nvSpPr>
        <p:spPr>
          <a:xfrm>
            <a:off x="5833872" y="1536192"/>
            <a:ext cx="2962656" cy="274320"/>
          </a:xfrm>
          <a:prstGeom prst="rect">
            <a:avLst/>
          </a:prstGeom>
          <a:solidFill>
            <a:srgbClr val="D4EDD9"/>
          </a:solidFill>
          <a:ln w="12700">
            <a:solidFill>
              <a:srgbClr val="C8C0B4"/>
            </a:solidFill>
            <a:prstDash val="solid"/>
          </a:ln>
        </p:spPr>
      </p:sp>
      <p:sp>
        <p:nvSpPr>
          <p:cNvPr id="10" name="Text 7"/>
          <p:cNvSpPr/>
          <p:nvPr/>
        </p:nvSpPr>
        <p:spPr>
          <a:xfrm>
            <a:off x="5897880" y="1536192"/>
            <a:ext cx="1554480" cy="274320"/>
          </a:xfrm>
          <a:prstGeom prst="rect">
            <a:avLst/>
          </a:prstGeom>
          <a:noFill/>
          <a:ln/>
        </p:spPr>
        <p:txBody>
          <a:bodyPr wrap="square" lIns="0" tIns="0" rIns="0" bIns="0" rtlCol="0" anchor="ctr"/>
          <a:lstStyle/>
          <a:p>
            <a:pPr indent="0" marL="0">
              <a:buNone/>
            </a:pPr>
            <a:r>
              <a:rPr lang="en-US" sz="1050" dirty="0">
                <a:solidFill>
                  <a:srgbClr val="3B5249"/>
                </a:solidFill>
                <a:latin typeface="Calibri" pitchFamily="34" charset="0"/>
                <a:ea typeface="Calibri" pitchFamily="34" charset="-122"/>
                <a:cs typeface="Calibri" pitchFamily="34" charset="-120"/>
              </a:rPr>
              <a:t>Accuracy</a:t>
            </a:r>
            <a:endParaRPr lang="en-US" sz="1050" dirty="0"/>
          </a:p>
        </p:txBody>
      </p:sp>
      <p:sp>
        <p:nvSpPr>
          <p:cNvPr id="11" name="Text 8"/>
          <p:cNvSpPr/>
          <p:nvPr/>
        </p:nvSpPr>
        <p:spPr>
          <a:xfrm>
            <a:off x="7498080" y="1536192"/>
            <a:ext cx="1188720" cy="274320"/>
          </a:xfrm>
          <a:prstGeom prst="rect">
            <a:avLst/>
          </a:prstGeom>
          <a:noFill/>
          <a:ln/>
        </p:spPr>
        <p:txBody>
          <a:bodyPr wrap="square" lIns="0" tIns="0" rIns="0" bIns="0" rtlCol="0" anchor="ctr"/>
          <a:lstStyle/>
          <a:p>
            <a:pPr algn="r" indent="0" marL="0">
              <a:buNone/>
            </a:pPr>
            <a:r>
              <a:rPr lang="en-US" sz="1100" b="1" dirty="0">
                <a:solidFill>
                  <a:srgbClr val="2C5F2D"/>
                </a:solidFill>
                <a:latin typeface="Calibri" pitchFamily="34" charset="0"/>
                <a:ea typeface="Calibri" pitchFamily="34" charset="-122"/>
                <a:cs typeface="Calibri" pitchFamily="34" charset="-120"/>
              </a:rPr>
              <a:t>87.2%</a:t>
            </a:r>
            <a:endParaRPr lang="en-US" sz="1100" dirty="0"/>
          </a:p>
        </p:txBody>
      </p:sp>
      <p:sp>
        <p:nvSpPr>
          <p:cNvPr id="12" name="Shape 9"/>
          <p:cNvSpPr/>
          <p:nvPr/>
        </p:nvSpPr>
        <p:spPr>
          <a:xfrm>
            <a:off x="5833872" y="1847088"/>
            <a:ext cx="2962656" cy="274320"/>
          </a:xfrm>
          <a:prstGeom prst="rect">
            <a:avLst/>
          </a:prstGeom>
          <a:solidFill>
            <a:srgbClr val="EDE8E0"/>
          </a:solidFill>
          <a:ln w="12700">
            <a:solidFill>
              <a:srgbClr val="C8C0B4"/>
            </a:solidFill>
            <a:prstDash val="solid"/>
          </a:ln>
        </p:spPr>
      </p:sp>
      <p:sp>
        <p:nvSpPr>
          <p:cNvPr id="13" name="Text 10"/>
          <p:cNvSpPr/>
          <p:nvPr/>
        </p:nvSpPr>
        <p:spPr>
          <a:xfrm>
            <a:off x="5897880" y="1847088"/>
            <a:ext cx="1554480" cy="274320"/>
          </a:xfrm>
          <a:prstGeom prst="rect">
            <a:avLst/>
          </a:prstGeom>
          <a:noFill/>
          <a:ln/>
        </p:spPr>
        <p:txBody>
          <a:bodyPr wrap="square" lIns="0" tIns="0" rIns="0" bIns="0" rtlCol="0" anchor="ctr"/>
          <a:lstStyle/>
          <a:p>
            <a:pPr indent="0" marL="0">
              <a:buNone/>
            </a:pPr>
            <a:r>
              <a:rPr lang="en-US" sz="1050" dirty="0">
                <a:solidFill>
                  <a:srgbClr val="3B5249"/>
                </a:solidFill>
                <a:latin typeface="Calibri" pitchFamily="34" charset="0"/>
                <a:ea typeface="Calibri" pitchFamily="34" charset="-122"/>
                <a:cs typeface="Calibri" pitchFamily="34" charset="-120"/>
              </a:rPr>
              <a:t>Macro Avg F1</a:t>
            </a:r>
            <a:endParaRPr lang="en-US" sz="1050" dirty="0"/>
          </a:p>
        </p:txBody>
      </p:sp>
      <p:sp>
        <p:nvSpPr>
          <p:cNvPr id="14" name="Text 11"/>
          <p:cNvSpPr/>
          <p:nvPr/>
        </p:nvSpPr>
        <p:spPr>
          <a:xfrm>
            <a:off x="7498080" y="1847088"/>
            <a:ext cx="1188720" cy="274320"/>
          </a:xfrm>
          <a:prstGeom prst="rect">
            <a:avLst/>
          </a:prstGeom>
          <a:noFill/>
          <a:ln/>
        </p:spPr>
        <p:txBody>
          <a:bodyPr wrap="square" lIns="0" tIns="0" rIns="0" bIns="0" rtlCol="0" anchor="ctr"/>
          <a:lstStyle/>
          <a:p>
            <a:pPr algn="r" indent="0" marL="0">
              <a:buNone/>
            </a:pPr>
            <a:r>
              <a:rPr lang="en-US" sz="1100" b="1" dirty="0">
                <a:solidFill>
                  <a:srgbClr val="2C5F2D"/>
                </a:solidFill>
                <a:latin typeface="Calibri" pitchFamily="34" charset="0"/>
                <a:ea typeface="Calibri" pitchFamily="34" charset="-122"/>
                <a:cs typeface="Calibri" pitchFamily="34" charset="-120"/>
              </a:rPr>
              <a:t>85.0%</a:t>
            </a:r>
            <a:endParaRPr lang="en-US" sz="1100" dirty="0"/>
          </a:p>
        </p:txBody>
      </p:sp>
      <p:sp>
        <p:nvSpPr>
          <p:cNvPr id="15" name="Shape 12"/>
          <p:cNvSpPr/>
          <p:nvPr/>
        </p:nvSpPr>
        <p:spPr>
          <a:xfrm>
            <a:off x="5833872" y="2157984"/>
            <a:ext cx="2962656" cy="274320"/>
          </a:xfrm>
          <a:prstGeom prst="rect">
            <a:avLst/>
          </a:prstGeom>
          <a:solidFill>
            <a:srgbClr val="D4EDD9"/>
          </a:solidFill>
          <a:ln w="12700">
            <a:solidFill>
              <a:srgbClr val="C8C0B4"/>
            </a:solidFill>
            <a:prstDash val="solid"/>
          </a:ln>
        </p:spPr>
      </p:sp>
      <p:sp>
        <p:nvSpPr>
          <p:cNvPr id="16" name="Text 13"/>
          <p:cNvSpPr/>
          <p:nvPr/>
        </p:nvSpPr>
        <p:spPr>
          <a:xfrm>
            <a:off x="5897880" y="2157984"/>
            <a:ext cx="1554480" cy="274320"/>
          </a:xfrm>
          <a:prstGeom prst="rect">
            <a:avLst/>
          </a:prstGeom>
          <a:noFill/>
          <a:ln/>
        </p:spPr>
        <p:txBody>
          <a:bodyPr wrap="square" lIns="0" tIns="0" rIns="0" bIns="0" rtlCol="0" anchor="ctr"/>
          <a:lstStyle/>
          <a:p>
            <a:pPr indent="0" marL="0">
              <a:buNone/>
            </a:pPr>
            <a:r>
              <a:rPr lang="en-US" sz="1050" dirty="0">
                <a:solidFill>
                  <a:srgbClr val="3B5249"/>
                </a:solidFill>
                <a:latin typeface="Calibri" pitchFamily="34" charset="0"/>
                <a:ea typeface="Calibri" pitchFamily="34" charset="-122"/>
                <a:cs typeface="Calibri" pitchFamily="34" charset="-120"/>
              </a:rPr>
              <a:t>Weighted F1</a:t>
            </a:r>
            <a:endParaRPr lang="en-US" sz="1050" dirty="0"/>
          </a:p>
        </p:txBody>
      </p:sp>
      <p:sp>
        <p:nvSpPr>
          <p:cNvPr id="17" name="Text 14"/>
          <p:cNvSpPr/>
          <p:nvPr/>
        </p:nvSpPr>
        <p:spPr>
          <a:xfrm>
            <a:off x="7498080" y="2157984"/>
            <a:ext cx="1188720" cy="274320"/>
          </a:xfrm>
          <a:prstGeom prst="rect">
            <a:avLst/>
          </a:prstGeom>
          <a:noFill/>
          <a:ln/>
        </p:spPr>
        <p:txBody>
          <a:bodyPr wrap="square" lIns="0" tIns="0" rIns="0" bIns="0" rtlCol="0" anchor="ctr"/>
          <a:lstStyle/>
          <a:p>
            <a:pPr algn="r" indent="0" marL="0">
              <a:buNone/>
            </a:pPr>
            <a:r>
              <a:rPr lang="en-US" sz="1100" b="1" dirty="0">
                <a:solidFill>
                  <a:srgbClr val="2C5F2D"/>
                </a:solidFill>
                <a:latin typeface="Calibri" pitchFamily="34" charset="0"/>
                <a:ea typeface="Calibri" pitchFamily="34" charset="-122"/>
                <a:cs typeface="Calibri" pitchFamily="34" charset="-120"/>
              </a:rPr>
              <a:t>86.1%</a:t>
            </a:r>
            <a:endParaRPr lang="en-US" sz="1100" dirty="0"/>
          </a:p>
        </p:txBody>
      </p:sp>
      <p:sp>
        <p:nvSpPr>
          <p:cNvPr id="18" name="Shape 15"/>
          <p:cNvSpPr/>
          <p:nvPr/>
        </p:nvSpPr>
        <p:spPr>
          <a:xfrm>
            <a:off x="5806440" y="2697480"/>
            <a:ext cx="3017520" cy="169164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9" name="Shape 16"/>
          <p:cNvSpPr/>
          <p:nvPr/>
        </p:nvSpPr>
        <p:spPr>
          <a:xfrm>
            <a:off x="5806440" y="2697480"/>
            <a:ext cx="3017520" cy="365760"/>
          </a:xfrm>
          <a:prstGeom prst="rect">
            <a:avLst/>
          </a:prstGeom>
          <a:solidFill>
            <a:srgbClr val="2C5F2D"/>
          </a:solidFill>
          <a:ln w="12700">
            <a:solidFill>
              <a:srgbClr val="2C5F2D"/>
            </a:solidFill>
            <a:prstDash val="solid"/>
          </a:ln>
        </p:spPr>
      </p:sp>
      <p:sp>
        <p:nvSpPr>
          <p:cNvPr id="20" name="Text 17"/>
          <p:cNvSpPr/>
          <p:nvPr/>
        </p:nvSpPr>
        <p:spPr>
          <a:xfrm>
            <a:off x="5806440" y="2697480"/>
            <a:ext cx="30175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 Files</a:t>
            </a:r>
            <a:endParaRPr lang="en-US" sz="1100" dirty="0"/>
          </a:p>
        </p:txBody>
      </p:sp>
      <p:sp>
        <p:nvSpPr>
          <p:cNvPr id="21" name="Text 18"/>
          <p:cNvSpPr/>
          <p:nvPr/>
        </p:nvSpPr>
        <p:spPr>
          <a:xfrm>
            <a:off x="5879592" y="3127248"/>
            <a:ext cx="2834640" cy="1188720"/>
          </a:xfrm>
          <a:prstGeom prst="rect">
            <a:avLst/>
          </a:prstGeom>
          <a:noFill/>
          <a:ln/>
        </p:spPr>
        <p:txBody>
          <a:bodyPr wrap="square" lIns="50800" tIns="50800" rIns="50800" bIns="50800" rtlCol="0" anchor="ctr"/>
          <a:lstStyle/>
          <a:p>
            <a:pPr marL="342900" indent="-342900">
              <a:buSzPct val="100000"/>
              <a:buChar char="•"/>
            </a:pPr>
            <a:r>
              <a:rPr lang="en-US" sz="950" dirty="0">
                <a:solidFill>
                  <a:srgbClr val="3B5249"/>
                </a:solidFill>
                <a:latin typeface="Calibri" pitchFamily="34" charset="0"/>
                <a:ea typeface="Calibri" pitchFamily="34" charset="-122"/>
                <a:cs typeface="Calibri" pitchFamily="34" charset="-120"/>
              </a:rPr>
              <a:t>confusion_matrix.png</a:t>
            </a:r>
            <a:endParaRPr lang="en-US" sz="950" dirty="0"/>
          </a:p>
          <a:p>
            <a:pPr marL="342900" indent="-342900">
              <a:buSzPct val="100000"/>
              <a:buChar char="•"/>
            </a:pPr>
            <a:r>
              <a:rPr lang="en-US" sz="950" dirty="0">
                <a:solidFill>
                  <a:srgbClr val="3B5249"/>
                </a:solidFill>
                <a:latin typeface="Calibri" pitchFamily="34" charset="0"/>
                <a:ea typeface="Calibri" pitchFamily="34" charset="-122"/>
                <a:cs typeface="Calibri" pitchFamily="34" charset="-120"/>
              </a:rPr>
              <a:t>precision_recall_by_class.png</a:t>
            </a:r>
            <a:endParaRPr lang="en-US" sz="950" dirty="0"/>
          </a:p>
          <a:p>
            <a:pPr marL="342900" indent="-342900">
              <a:buSzPct val="100000"/>
              <a:buChar char="•"/>
            </a:pPr>
            <a:r>
              <a:rPr lang="en-US" sz="950" dirty="0">
                <a:solidFill>
                  <a:srgbClr val="3B5249"/>
                </a:solidFill>
                <a:latin typeface="Calibri" pitchFamily="34" charset="0"/>
                <a:ea typeface="Calibri" pitchFamily="34" charset="-122"/>
                <a:cs typeface="Calibri" pitchFamily="34" charset="-120"/>
              </a:rPr>
              <a:t>f1_score_by_class.png</a:t>
            </a:r>
            <a:endParaRPr lang="en-US" sz="950" dirty="0"/>
          </a:p>
          <a:p>
            <a:pPr marL="342900" indent="-342900">
              <a:buSzPct val="100000"/>
              <a:buChar char="•"/>
            </a:pPr>
            <a:r>
              <a:rPr lang="en-US" sz="950" dirty="0">
                <a:solidFill>
                  <a:srgbClr val="3B5249"/>
                </a:solidFill>
                <a:latin typeface="Calibri" pitchFamily="34" charset="0"/>
                <a:ea typeface="Calibri" pitchFamily="34" charset="-122"/>
                <a:cs typeface="Calibri" pitchFamily="34" charset="-120"/>
              </a:rPr>
              <a:t>precision_recall_f1_by_class.png</a:t>
            </a:r>
            <a:endParaRPr lang="en-US" sz="950" dirty="0"/>
          </a:p>
        </p:txBody>
      </p:sp>
      <p:sp>
        <p:nvSpPr>
          <p:cNvPr id="22" name="Shape 19"/>
          <p:cNvSpPr/>
          <p:nvPr/>
        </p:nvSpPr>
        <p:spPr>
          <a:xfrm>
            <a:off x="320040" y="4480560"/>
            <a:ext cx="8503920" cy="384048"/>
          </a:xfrm>
          <a:prstGeom prst="rect">
            <a:avLst/>
          </a:prstGeom>
          <a:solidFill>
            <a:srgbClr val="EDF7F0"/>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3" name="Text 20"/>
          <p:cNvSpPr/>
          <p:nvPr/>
        </p:nvSpPr>
        <p:spPr>
          <a:xfrm>
            <a:off x="411480" y="4498848"/>
            <a:ext cx="8321040" cy="329184"/>
          </a:xfrm>
          <a:prstGeom prst="rect">
            <a:avLst/>
          </a:prstGeom>
          <a:noFill/>
          <a:ln/>
        </p:spPr>
        <p:txBody>
          <a:bodyPr wrap="square" lIns="0" tIns="0" rIns="0" bIns="0" rtlCol="0" anchor="ctr"/>
          <a:lstStyle/>
          <a:p>
            <a:pPr indent="0" marL="0">
              <a:buNone/>
            </a:pPr>
            <a:r>
              <a:rPr lang="en-US" sz="950" i="1" dirty="0">
                <a:solidFill>
                  <a:srgbClr val="6B7F74"/>
                </a:solidFill>
                <a:latin typeface="Calibri" pitchFamily="34" charset="0"/>
                <a:ea typeface="Calibri" pitchFamily="34" charset="-122"/>
                <a:cs typeface="Calibri" pitchFamily="34" charset="-120"/>
              </a:rPr>
              <a:t>Note: Results above are illustrative. Actual values depend on dataset size and training configuration. Generated by src/07_model_evaluation.py, src/17_precision_recall_graph.py, src/18_evaluation_graphs.py</a:t>
            </a:r>
            <a:endParaRPr lang="en-US" sz="950" dirty="0"/>
          </a:p>
        </p:txBody>
      </p:sp>
      <p:sp>
        <p:nvSpPr>
          <p:cNvPr id="24" name="Shape 21"/>
          <p:cNvSpPr/>
          <p:nvPr/>
        </p:nvSpPr>
        <p:spPr>
          <a:xfrm>
            <a:off x="6858000" y="4663440"/>
            <a:ext cx="2011680" cy="320040"/>
          </a:xfrm>
          <a:prstGeom prst="rect">
            <a:avLst/>
          </a:prstGeom>
          <a:solidFill>
            <a:srgbClr val="2C5F2D"/>
          </a:solidFill>
          <a:ln w="12700">
            <a:solidFill>
              <a:srgbClr val="2C5F2D"/>
            </a:solidFill>
            <a:prstDash val="solid"/>
          </a:ln>
        </p:spPr>
      </p:sp>
      <p:sp>
        <p:nvSpPr>
          <p:cNvPr id="25" name="Text 22"/>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Website Flow &amp; Demo</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Speaker 3 — FastAPI interface at http://127.0.0.1:8000</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88720"/>
            <a:ext cx="8503920" cy="804672"/>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188720"/>
            <a:ext cx="777240" cy="804672"/>
          </a:xfrm>
          <a:prstGeom prst="rect">
            <a:avLst/>
          </a:prstGeom>
          <a:solidFill>
            <a:srgbClr val="2C5F2D"/>
          </a:solidFill>
          <a:ln w="12700">
            <a:solidFill>
              <a:srgbClr val="2C5F2D"/>
            </a:solidFill>
            <a:prstDash val="solid"/>
          </a:ln>
        </p:spPr>
      </p:sp>
      <p:sp>
        <p:nvSpPr>
          <p:cNvPr id="8" name="Text 6"/>
          <p:cNvSpPr/>
          <p:nvPr/>
        </p:nvSpPr>
        <p:spPr>
          <a:xfrm>
            <a:off x="320040" y="1188720"/>
            <a:ext cx="777240" cy="8046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9" name="Shape 7"/>
          <p:cNvSpPr/>
          <p:nvPr/>
        </p:nvSpPr>
        <p:spPr>
          <a:xfrm>
            <a:off x="1170432" y="1353312"/>
            <a:ext cx="2011680" cy="384048"/>
          </a:xfrm>
          <a:prstGeom prst="rect">
            <a:avLst/>
          </a:prstGeom>
          <a:solidFill>
            <a:srgbClr val="D4EDD9"/>
          </a:solidFill>
          <a:ln w="12700">
            <a:solidFill>
              <a:srgbClr val="6BAA75"/>
            </a:solidFill>
            <a:prstDash val="solid"/>
          </a:ln>
        </p:spPr>
      </p:sp>
      <p:sp>
        <p:nvSpPr>
          <p:cNvPr id="10" name="Text 8"/>
          <p:cNvSpPr/>
          <p:nvPr/>
        </p:nvSpPr>
        <p:spPr>
          <a:xfrm>
            <a:off x="1170432" y="1353312"/>
            <a:ext cx="2011680" cy="384048"/>
          </a:xfrm>
          <a:prstGeom prst="rect">
            <a:avLst/>
          </a:prstGeom>
          <a:noFill/>
          <a:ln/>
        </p:spPr>
        <p:txBody>
          <a:bodyPr wrap="square" lIns="0" tIns="0" rIns="0" bIns="0" rtlCol="0" anchor="ctr"/>
          <a:lstStyle/>
          <a:p>
            <a:pPr algn="ctr" indent="0" marL="0">
              <a:buNone/>
            </a:pPr>
            <a:r>
              <a:rPr lang="en-US" sz="1100" b="1" dirty="0">
                <a:solidFill>
                  <a:srgbClr val="1A3C2B"/>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3291840" y="1298448"/>
            <a:ext cx="5303520" cy="594360"/>
          </a:xfrm>
          <a:prstGeom prst="rect">
            <a:avLst/>
          </a:prstGeom>
          <a:noFill/>
          <a:ln/>
        </p:spPr>
        <p:txBody>
          <a:bodyPr wrap="square" lIns="50800" tIns="50800" rIns="50800" bIns="5080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Main page with text advisory form and image upload sections</a:t>
            </a:r>
            <a:endParaRPr lang="en-US" sz="1100" dirty="0"/>
          </a:p>
        </p:txBody>
      </p:sp>
      <p:sp>
        <p:nvSpPr>
          <p:cNvPr id="12" name="Shape 10"/>
          <p:cNvSpPr/>
          <p:nvPr/>
        </p:nvSpPr>
        <p:spPr>
          <a:xfrm>
            <a:off x="320040" y="2103120"/>
            <a:ext cx="8503920" cy="804672"/>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320040" y="2103120"/>
            <a:ext cx="777240" cy="804672"/>
          </a:xfrm>
          <a:prstGeom prst="rect">
            <a:avLst/>
          </a:prstGeom>
          <a:solidFill>
            <a:srgbClr val="3D6B52"/>
          </a:solidFill>
          <a:ln w="12700">
            <a:solidFill>
              <a:srgbClr val="3D6B52"/>
            </a:solidFill>
            <a:prstDash val="solid"/>
          </a:ln>
        </p:spPr>
      </p:sp>
      <p:sp>
        <p:nvSpPr>
          <p:cNvPr id="14" name="Text 12"/>
          <p:cNvSpPr/>
          <p:nvPr/>
        </p:nvSpPr>
        <p:spPr>
          <a:xfrm>
            <a:off x="320040" y="2103120"/>
            <a:ext cx="777240" cy="8046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15" name="Shape 13"/>
          <p:cNvSpPr/>
          <p:nvPr/>
        </p:nvSpPr>
        <p:spPr>
          <a:xfrm>
            <a:off x="1170432" y="2267712"/>
            <a:ext cx="2011680" cy="384048"/>
          </a:xfrm>
          <a:prstGeom prst="rect">
            <a:avLst/>
          </a:prstGeom>
          <a:solidFill>
            <a:srgbClr val="D4EDD9"/>
          </a:solidFill>
          <a:ln w="12700">
            <a:solidFill>
              <a:srgbClr val="6BAA75"/>
            </a:solidFill>
            <a:prstDash val="solid"/>
          </a:ln>
        </p:spPr>
      </p:sp>
      <p:sp>
        <p:nvSpPr>
          <p:cNvPr id="16" name="Text 14"/>
          <p:cNvSpPr/>
          <p:nvPr/>
        </p:nvSpPr>
        <p:spPr>
          <a:xfrm>
            <a:off x="1170432" y="2267712"/>
            <a:ext cx="2011680" cy="384048"/>
          </a:xfrm>
          <a:prstGeom prst="rect">
            <a:avLst/>
          </a:prstGeom>
          <a:noFill/>
          <a:ln/>
        </p:spPr>
        <p:txBody>
          <a:bodyPr wrap="square" lIns="0" tIns="0" rIns="0" bIns="0" rtlCol="0" anchor="ctr"/>
          <a:lstStyle/>
          <a:p>
            <a:pPr algn="ctr" indent="0" marL="0">
              <a:buNone/>
            </a:pPr>
            <a:r>
              <a:rPr lang="en-US" sz="1100" b="1" dirty="0">
                <a:solidFill>
                  <a:srgbClr val="1A3C2B"/>
                </a:solidFill>
                <a:latin typeface="Calibri" pitchFamily="34" charset="0"/>
                <a:ea typeface="Calibri" pitchFamily="34" charset="-122"/>
                <a:cs typeface="Calibri" pitchFamily="34" charset="-120"/>
              </a:rPr>
              <a:t>/advisory</a:t>
            </a:r>
            <a:endParaRPr lang="en-US" sz="1100" dirty="0"/>
          </a:p>
        </p:txBody>
      </p:sp>
      <p:sp>
        <p:nvSpPr>
          <p:cNvPr id="17" name="Text 15"/>
          <p:cNvSpPr/>
          <p:nvPr/>
        </p:nvSpPr>
        <p:spPr>
          <a:xfrm>
            <a:off x="3291840" y="2212848"/>
            <a:ext cx="5303520" cy="594360"/>
          </a:xfrm>
          <a:prstGeom prst="rect">
            <a:avLst/>
          </a:prstGeom>
          <a:noFill/>
          <a:ln/>
        </p:spPr>
        <p:txBody>
          <a:bodyPr wrap="square" lIns="50800" tIns="50800" rIns="50800" bIns="5080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Accepts text query → RAG → OpenAI → returns full advisory with evidence</a:t>
            </a:r>
            <a:endParaRPr lang="en-US" sz="1100" dirty="0"/>
          </a:p>
        </p:txBody>
      </p:sp>
      <p:sp>
        <p:nvSpPr>
          <p:cNvPr id="18" name="Shape 16"/>
          <p:cNvSpPr/>
          <p:nvPr/>
        </p:nvSpPr>
        <p:spPr>
          <a:xfrm>
            <a:off x="320040" y="3017520"/>
            <a:ext cx="8503920" cy="804672"/>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320040" y="3017520"/>
            <a:ext cx="777240" cy="804672"/>
          </a:xfrm>
          <a:prstGeom prst="rect">
            <a:avLst/>
          </a:prstGeom>
          <a:solidFill>
            <a:srgbClr val="5A8060"/>
          </a:solidFill>
          <a:ln w="12700">
            <a:solidFill>
              <a:srgbClr val="5A8060"/>
            </a:solidFill>
            <a:prstDash val="solid"/>
          </a:ln>
        </p:spPr>
      </p:sp>
      <p:sp>
        <p:nvSpPr>
          <p:cNvPr id="20" name="Text 18"/>
          <p:cNvSpPr/>
          <p:nvPr/>
        </p:nvSpPr>
        <p:spPr>
          <a:xfrm>
            <a:off x="320040" y="3017520"/>
            <a:ext cx="777240" cy="8046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21" name="Shape 19"/>
          <p:cNvSpPr/>
          <p:nvPr/>
        </p:nvSpPr>
        <p:spPr>
          <a:xfrm>
            <a:off x="1170432" y="3182112"/>
            <a:ext cx="2011680" cy="384048"/>
          </a:xfrm>
          <a:prstGeom prst="rect">
            <a:avLst/>
          </a:prstGeom>
          <a:solidFill>
            <a:srgbClr val="D4EDD9"/>
          </a:solidFill>
          <a:ln w="12700">
            <a:solidFill>
              <a:srgbClr val="6BAA75"/>
            </a:solidFill>
            <a:prstDash val="solid"/>
          </a:ln>
        </p:spPr>
      </p:sp>
      <p:sp>
        <p:nvSpPr>
          <p:cNvPr id="22" name="Text 20"/>
          <p:cNvSpPr/>
          <p:nvPr/>
        </p:nvSpPr>
        <p:spPr>
          <a:xfrm>
            <a:off x="1170432" y="3182112"/>
            <a:ext cx="2011680" cy="384048"/>
          </a:xfrm>
          <a:prstGeom prst="rect">
            <a:avLst/>
          </a:prstGeom>
          <a:noFill/>
          <a:ln/>
        </p:spPr>
        <p:txBody>
          <a:bodyPr wrap="square" lIns="0" tIns="0" rIns="0" bIns="0" rtlCol="0" anchor="ctr"/>
          <a:lstStyle/>
          <a:p>
            <a:pPr algn="ctr" indent="0" marL="0">
              <a:buNone/>
            </a:pPr>
            <a:r>
              <a:rPr lang="en-US" sz="1100" b="1" dirty="0">
                <a:solidFill>
                  <a:srgbClr val="1A3C2B"/>
                </a:solidFill>
                <a:latin typeface="Calibri" pitchFamily="34" charset="0"/>
                <a:ea typeface="Calibri" pitchFamily="34" charset="-122"/>
                <a:cs typeface="Calibri" pitchFamily="34" charset="-120"/>
              </a:rPr>
              <a:t>/predict-image</a:t>
            </a:r>
            <a:endParaRPr lang="en-US" sz="1100" dirty="0"/>
          </a:p>
        </p:txBody>
      </p:sp>
      <p:sp>
        <p:nvSpPr>
          <p:cNvPr id="23" name="Text 21"/>
          <p:cNvSpPr/>
          <p:nvPr/>
        </p:nvSpPr>
        <p:spPr>
          <a:xfrm>
            <a:off x="3291840" y="3127248"/>
            <a:ext cx="5303520" cy="594360"/>
          </a:xfrm>
          <a:prstGeom prst="rect">
            <a:avLst/>
          </a:prstGeom>
          <a:noFill/>
          <a:ln/>
        </p:spPr>
        <p:txBody>
          <a:bodyPr wrap="square" lIns="50800" tIns="50800" rIns="50800" bIns="5080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Accepts image → CNN predict → RAG query → OpenAI → prediction + advisory</a:t>
            </a:r>
            <a:endParaRPr lang="en-US" sz="1100" dirty="0"/>
          </a:p>
        </p:txBody>
      </p:sp>
      <p:sp>
        <p:nvSpPr>
          <p:cNvPr id="24" name="Shape 22"/>
          <p:cNvSpPr/>
          <p:nvPr/>
        </p:nvSpPr>
        <p:spPr>
          <a:xfrm>
            <a:off x="320040" y="3931920"/>
            <a:ext cx="8503920" cy="804672"/>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320040" y="3931920"/>
            <a:ext cx="777240" cy="804672"/>
          </a:xfrm>
          <a:prstGeom prst="rect">
            <a:avLst/>
          </a:prstGeom>
          <a:solidFill>
            <a:srgbClr val="7DA87C"/>
          </a:solidFill>
          <a:ln w="12700">
            <a:solidFill>
              <a:srgbClr val="7DA87C"/>
            </a:solidFill>
            <a:prstDash val="solid"/>
          </a:ln>
        </p:spPr>
      </p:sp>
      <p:sp>
        <p:nvSpPr>
          <p:cNvPr id="26" name="Text 24"/>
          <p:cNvSpPr/>
          <p:nvPr/>
        </p:nvSpPr>
        <p:spPr>
          <a:xfrm>
            <a:off x="320040" y="3931920"/>
            <a:ext cx="777240" cy="8046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27" name="Shape 25"/>
          <p:cNvSpPr/>
          <p:nvPr/>
        </p:nvSpPr>
        <p:spPr>
          <a:xfrm>
            <a:off x="1170432" y="4096512"/>
            <a:ext cx="2011680" cy="384048"/>
          </a:xfrm>
          <a:prstGeom prst="rect">
            <a:avLst/>
          </a:prstGeom>
          <a:solidFill>
            <a:srgbClr val="D4EDD9"/>
          </a:solidFill>
          <a:ln w="12700">
            <a:solidFill>
              <a:srgbClr val="6BAA75"/>
            </a:solidFill>
            <a:prstDash val="solid"/>
          </a:ln>
        </p:spPr>
      </p:sp>
      <p:sp>
        <p:nvSpPr>
          <p:cNvPr id="28" name="Text 26"/>
          <p:cNvSpPr/>
          <p:nvPr/>
        </p:nvSpPr>
        <p:spPr>
          <a:xfrm>
            <a:off x="1170432" y="4096512"/>
            <a:ext cx="2011680" cy="384048"/>
          </a:xfrm>
          <a:prstGeom prst="rect">
            <a:avLst/>
          </a:prstGeom>
          <a:noFill/>
          <a:ln/>
        </p:spPr>
        <p:txBody>
          <a:bodyPr wrap="square" lIns="0" tIns="0" rIns="0" bIns="0" rtlCol="0" anchor="ctr"/>
          <a:lstStyle/>
          <a:p>
            <a:pPr algn="ctr" indent="0" marL="0">
              <a:buNone/>
            </a:pPr>
            <a:r>
              <a:rPr lang="en-US" sz="1100" b="1" dirty="0">
                <a:solidFill>
                  <a:srgbClr val="1A3C2B"/>
                </a:solidFill>
                <a:latin typeface="Calibri" pitchFamily="34" charset="0"/>
                <a:ea typeface="Calibri" pitchFamily="34" charset="-122"/>
                <a:cs typeface="Calibri" pitchFamily="34" charset="-120"/>
              </a:rPr>
              <a:t>/gradcam</a:t>
            </a:r>
            <a:endParaRPr lang="en-US" sz="1100" dirty="0"/>
          </a:p>
        </p:txBody>
      </p:sp>
      <p:sp>
        <p:nvSpPr>
          <p:cNvPr id="29" name="Text 27"/>
          <p:cNvSpPr/>
          <p:nvPr/>
        </p:nvSpPr>
        <p:spPr>
          <a:xfrm>
            <a:off x="3291840" y="4041648"/>
            <a:ext cx="5303520" cy="594360"/>
          </a:xfrm>
          <a:prstGeom prst="rect">
            <a:avLst/>
          </a:prstGeom>
          <a:noFill/>
          <a:ln/>
        </p:spPr>
        <p:txBody>
          <a:bodyPr wrap="square" lIns="50800" tIns="50800" rIns="50800" bIns="50800" rtlCol="0" anchor="ctr"/>
          <a:lstStyle/>
          <a:p>
            <a:pPr indent="0" marL="0">
              <a:buNone/>
            </a:pPr>
            <a:r>
              <a:rPr lang="en-US" sz="1100" dirty="0">
                <a:solidFill>
                  <a:srgbClr val="3B5249"/>
                </a:solidFill>
                <a:latin typeface="Calibri" pitchFamily="34" charset="0"/>
                <a:ea typeface="Calibri" pitchFamily="34" charset="-122"/>
                <a:cs typeface="Calibri" pitchFamily="34" charset="-120"/>
              </a:rPr>
              <a:t>Accepts image → CNN → final conv layer → Grad-CAM heatmap → displayed on website</a:t>
            </a:r>
            <a:endParaRPr lang="en-US" sz="1100" dirty="0"/>
          </a:p>
        </p:txBody>
      </p:sp>
      <p:sp>
        <p:nvSpPr>
          <p:cNvPr id="30" name="Shape 28"/>
          <p:cNvSpPr/>
          <p:nvPr/>
        </p:nvSpPr>
        <p:spPr>
          <a:xfrm>
            <a:off x="320040" y="4901184"/>
            <a:ext cx="8503920" cy="137160"/>
          </a:xfrm>
          <a:prstGeom prst="rect">
            <a:avLst/>
          </a:prstGeom>
          <a:solidFill>
            <a:srgbClr val="D4EDD9"/>
          </a:solidFill>
          <a:ln w="12700">
            <a:solidFill>
              <a:srgbClr val="D0C8BE"/>
            </a:solidFill>
            <a:prstDash val="solid"/>
          </a:ln>
          <a:effectLst>
            <a:outerShdw sx="100000" sy="100000" kx="0" ky="0" algn="bl" rotWithShape="0" blurRad="63500" dist="25400" dir="8100000">
              <a:srgbClr val="000000">
                <a:alpha val="10000"/>
              </a:srgbClr>
            </a:outerShdw>
          </a:effectLst>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E"/>
        </a:solidFill>
      </p:bgPr>
    </p:bg>
    <p:spTree>
      <p:nvGrpSpPr>
        <p:cNvPr id="1" name=""/>
        <p:cNvGrpSpPr/>
        <p:nvPr/>
      </p:nvGrpSpPr>
      <p:grpSpPr>
        <a:xfrm>
          <a:off x="0" y="0"/>
          <a:ext cx="0" cy="0"/>
          <a:chOff x="0" y="0"/>
          <a:chExt cx="0" cy="0"/>
        </a:xfrm>
      </p:grpSpPr>
      <p:sp>
        <p:nvSpPr>
          <p:cNvPr id="2" name="Shape 0"/>
          <p:cNvSpPr/>
          <p:nvPr/>
        </p:nvSpPr>
        <p:spPr>
          <a:xfrm>
            <a:off x="320040" y="256032"/>
            <a:ext cx="64008" cy="502920"/>
          </a:xfrm>
          <a:prstGeom prst="rect">
            <a:avLst/>
          </a:prstGeom>
          <a:solidFill>
            <a:srgbClr val="2C5F2D"/>
          </a:solidFill>
          <a:ln w="12700">
            <a:solidFill>
              <a:srgbClr val="2C5F2D"/>
            </a:solidFill>
            <a:prstDash val="solid"/>
          </a:ln>
        </p:spPr>
      </p:sp>
      <p:sp>
        <p:nvSpPr>
          <p:cNvPr id="3" name="Text 1"/>
          <p:cNvSpPr/>
          <p:nvPr/>
        </p:nvSpPr>
        <p:spPr>
          <a:xfrm>
            <a:off x="457200" y="201168"/>
            <a:ext cx="8412480" cy="548640"/>
          </a:xfrm>
          <a:prstGeom prst="rect">
            <a:avLst/>
          </a:prstGeom>
          <a:noFill/>
          <a:ln/>
        </p:spPr>
        <p:txBody>
          <a:bodyPr wrap="square" lIns="0" tIns="0" rIns="0" bIns="0" rtlCol="0" anchor="ctr"/>
          <a:lstStyle/>
          <a:p>
            <a:pPr indent="0" marL="0">
              <a:buNone/>
            </a:pPr>
            <a:r>
              <a:rPr lang="en-US" sz="2400" b="1" dirty="0">
                <a:solidFill>
                  <a:srgbClr val="1A3C2B"/>
                </a:solidFill>
                <a:latin typeface="Calibri" pitchFamily="34" charset="0"/>
                <a:ea typeface="Calibri" pitchFamily="34" charset="-122"/>
                <a:cs typeface="Calibri" pitchFamily="34" charset="-120"/>
              </a:rPr>
              <a:t>Safety, Limitations &amp; Cost Management</a:t>
            </a:r>
            <a:endParaRPr lang="en-US" sz="2400" dirty="0"/>
          </a:p>
        </p:txBody>
      </p:sp>
      <p:sp>
        <p:nvSpPr>
          <p:cNvPr id="4" name="Text 2"/>
          <p:cNvSpPr/>
          <p:nvPr/>
        </p:nvSpPr>
        <p:spPr>
          <a:xfrm>
            <a:off x="457200" y="749808"/>
            <a:ext cx="8412480" cy="274320"/>
          </a:xfrm>
          <a:prstGeom prst="rect">
            <a:avLst/>
          </a:prstGeom>
          <a:noFill/>
          <a:ln/>
        </p:spPr>
        <p:txBody>
          <a:bodyPr wrap="square" lIns="0" tIns="0" rIns="0" bIns="0" rtlCol="0" anchor="ctr"/>
          <a:lstStyle/>
          <a:p>
            <a:pPr indent="0" marL="0">
              <a:buNone/>
            </a:pPr>
            <a:r>
              <a:rPr lang="en-US" sz="1200" i="1" dirty="0">
                <a:solidFill>
                  <a:srgbClr val="6B7F74"/>
                </a:solidFill>
                <a:latin typeface="Calibri" pitchFamily="34" charset="0"/>
                <a:ea typeface="Calibri" pitchFamily="34" charset="-122"/>
                <a:cs typeface="Calibri" pitchFamily="34" charset="-120"/>
              </a:rPr>
              <a:t>Responsible AI deployment for agriculture</a:t>
            </a:r>
            <a:endParaRPr lang="en-US" sz="1200" dirty="0"/>
          </a:p>
        </p:txBody>
      </p:sp>
      <p:sp>
        <p:nvSpPr>
          <p:cNvPr id="5" name="Shape 3"/>
          <p:cNvSpPr/>
          <p:nvPr/>
        </p:nvSpPr>
        <p:spPr>
          <a:xfrm>
            <a:off x="320040" y="1051560"/>
            <a:ext cx="8503920" cy="27432"/>
          </a:xfrm>
          <a:prstGeom prst="rect">
            <a:avLst/>
          </a:prstGeom>
          <a:solidFill>
            <a:srgbClr val="6BAA75"/>
          </a:solidFill>
          <a:ln w="12700">
            <a:solidFill>
              <a:srgbClr val="6BAA75"/>
            </a:solidFill>
            <a:prstDash val="solid"/>
          </a:ln>
        </p:spPr>
      </p:sp>
      <p:sp>
        <p:nvSpPr>
          <p:cNvPr id="6" name="Shape 4"/>
          <p:cNvSpPr/>
          <p:nvPr/>
        </p:nvSpPr>
        <p:spPr>
          <a:xfrm>
            <a:off x="320040" y="1170432"/>
            <a:ext cx="8503920" cy="804672"/>
          </a:xfrm>
          <a:prstGeom prst="rect">
            <a:avLst/>
          </a:prstGeom>
          <a:solidFill>
            <a:srgbClr val="FFF3CD"/>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20040" y="1170432"/>
            <a:ext cx="64008" cy="804672"/>
          </a:xfrm>
          <a:prstGeom prst="rect">
            <a:avLst/>
          </a:prstGeom>
          <a:solidFill>
            <a:srgbClr val="D4A017"/>
          </a:solidFill>
          <a:ln w="12700">
            <a:solidFill>
              <a:srgbClr val="D4A017"/>
            </a:solidFill>
            <a:prstDash val="solid"/>
          </a:ln>
        </p:spPr>
      </p:sp>
      <p:pic>
        <p:nvPicPr>
          <p:cNvPr id="8" name="Image 0" descr="preencoded.png">    </p:cNvPr>
          <p:cNvPicPr>
            <a:picLocks noChangeAspect="1"/>
          </p:cNvPicPr>
          <p:nvPr/>
        </p:nvPicPr>
        <p:blipFill>
          <a:blip r:embed="rId1"/>
          <a:stretch>
            <a:fillRect/>
          </a:stretch>
        </p:blipFill>
        <p:spPr>
          <a:xfrm>
            <a:off x="457200" y="1252728"/>
            <a:ext cx="292608" cy="292608"/>
          </a:xfrm>
          <a:prstGeom prst="rect">
            <a:avLst/>
          </a:prstGeom>
        </p:spPr>
      </p:pic>
      <p:sp>
        <p:nvSpPr>
          <p:cNvPr id="9" name="Text 6"/>
          <p:cNvSpPr/>
          <p:nvPr/>
        </p:nvSpPr>
        <p:spPr>
          <a:xfrm>
            <a:off x="822960" y="1216152"/>
            <a:ext cx="3200400" cy="274320"/>
          </a:xfrm>
          <a:prstGeom prst="rect">
            <a:avLst/>
          </a:prstGeom>
          <a:noFill/>
          <a:ln/>
        </p:spPr>
        <p:txBody>
          <a:bodyPr wrap="square" lIns="0" tIns="0" rIns="0" bIns="0" rtlCol="0" anchor="ctr"/>
          <a:lstStyle/>
          <a:p>
            <a:pPr indent="0" marL="0">
              <a:buNone/>
            </a:pPr>
            <a:r>
              <a:rPr lang="en-US" sz="1200" b="1" dirty="0">
                <a:solidFill>
                  <a:srgbClr val="7A5800"/>
                </a:solidFill>
                <a:latin typeface="Calibri" pitchFamily="34" charset="0"/>
                <a:ea typeface="Calibri" pitchFamily="34" charset="-122"/>
                <a:cs typeface="Calibri" pitchFamily="34" charset="-120"/>
              </a:rPr>
              <a:t>Safety Disclaimer</a:t>
            </a:r>
            <a:endParaRPr lang="en-US" sz="1200" dirty="0"/>
          </a:p>
        </p:txBody>
      </p:sp>
      <p:sp>
        <p:nvSpPr>
          <p:cNvPr id="10" name="Text 7"/>
          <p:cNvSpPr/>
          <p:nvPr/>
        </p:nvSpPr>
        <p:spPr>
          <a:xfrm>
            <a:off x="457200" y="1508760"/>
            <a:ext cx="8229600" cy="402336"/>
          </a:xfrm>
          <a:prstGeom prst="rect">
            <a:avLst/>
          </a:prstGeom>
          <a:noFill/>
          <a:ln/>
        </p:spPr>
        <p:txBody>
          <a:bodyPr wrap="square" lIns="0" tIns="0" rIns="0" bIns="0" rtlCol="0" anchor="ctr"/>
          <a:lstStyle/>
          <a:p>
            <a:pPr indent="0" marL="0">
              <a:buNone/>
            </a:pPr>
            <a:r>
              <a:rPr lang="en-US" sz="1050" dirty="0">
                <a:solidFill>
                  <a:srgbClr val="5A4000"/>
                </a:solidFill>
                <a:latin typeface="Calibri" pitchFamily="34" charset="0"/>
                <a:ea typeface="Calibri" pitchFamily="34" charset="-122"/>
                <a:cs typeface="Calibri" pitchFamily="34" charset="-120"/>
              </a:rPr>
              <a:t>AgriAssist is an AI-assisted decision-support prototype. It does not replace certified agricultural officers, agronomists, or local extension experts. Farmers must verify all pesticide, fungicide, fertilizer, irrigation, and treatment recommendations with local experts before taking action.</a:t>
            </a:r>
            <a:endParaRPr lang="en-US" sz="1050" dirty="0"/>
          </a:p>
        </p:txBody>
      </p:sp>
      <p:sp>
        <p:nvSpPr>
          <p:cNvPr id="11" name="Shape 8"/>
          <p:cNvSpPr/>
          <p:nvPr/>
        </p:nvSpPr>
        <p:spPr>
          <a:xfrm>
            <a:off x="320040" y="2103120"/>
            <a:ext cx="4160520" cy="24688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2" name="Shape 9"/>
          <p:cNvSpPr/>
          <p:nvPr/>
        </p:nvSpPr>
        <p:spPr>
          <a:xfrm>
            <a:off x="320040" y="2103120"/>
            <a:ext cx="4160520" cy="365760"/>
          </a:xfrm>
          <a:prstGeom prst="rect">
            <a:avLst/>
          </a:prstGeom>
          <a:solidFill>
            <a:srgbClr val="2C5F2D"/>
          </a:solidFill>
          <a:ln w="12700">
            <a:solidFill>
              <a:srgbClr val="2C5F2D"/>
            </a:solidFill>
            <a:prstDash val="solid"/>
          </a:ln>
        </p:spPr>
      </p:sp>
      <p:sp>
        <p:nvSpPr>
          <p:cNvPr id="13" name="Text 10"/>
          <p:cNvSpPr/>
          <p:nvPr/>
        </p:nvSpPr>
        <p:spPr>
          <a:xfrm>
            <a:off x="384048" y="2121408"/>
            <a:ext cx="397764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Current Limitations</a:t>
            </a:r>
            <a:endParaRPr lang="en-US" sz="1200" dirty="0"/>
          </a:p>
        </p:txBody>
      </p:sp>
      <p:sp>
        <p:nvSpPr>
          <p:cNvPr id="14" name="Text 11"/>
          <p:cNvSpPr/>
          <p:nvPr/>
        </p:nvSpPr>
        <p:spPr>
          <a:xfrm>
            <a:off x="411480" y="2560320"/>
            <a:ext cx="3977640" cy="1938528"/>
          </a:xfrm>
          <a:prstGeom prst="rect">
            <a:avLst/>
          </a:prstGeom>
          <a:noFill/>
          <a:ln/>
        </p:spPr>
        <p:txBody>
          <a:bodyPr wrap="square" lIns="50800" tIns="50800" rIns="50800" bIns="50800" rtlCol="0" anchor="ctr"/>
          <a:lstStyle/>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CNN accuracy depends on dataset quality and coverage</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TF-IDF retrieval is keyword-based, not fully semantic</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Knowledge base may contain noisy or generic records</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Exact diagnosis requires physical field inspection</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OpenAI advisory quality depends on retrieved evidence</a:t>
            </a:r>
            <a:endParaRPr lang="en-US" sz="1050" dirty="0"/>
          </a:p>
        </p:txBody>
      </p:sp>
      <p:sp>
        <p:nvSpPr>
          <p:cNvPr id="15" name="Shape 12"/>
          <p:cNvSpPr/>
          <p:nvPr/>
        </p:nvSpPr>
        <p:spPr>
          <a:xfrm>
            <a:off x="4663440" y="2103120"/>
            <a:ext cx="4160520" cy="2468880"/>
          </a:xfrm>
          <a:prstGeom prst="rect">
            <a:avLst/>
          </a:prstGeom>
          <a:solidFill>
            <a:srgbClr val="FFFFFF"/>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6" name="Shape 13"/>
          <p:cNvSpPr/>
          <p:nvPr/>
        </p:nvSpPr>
        <p:spPr>
          <a:xfrm>
            <a:off x="4663440" y="2103120"/>
            <a:ext cx="4160520" cy="365760"/>
          </a:xfrm>
          <a:prstGeom prst="rect">
            <a:avLst/>
          </a:prstGeom>
          <a:solidFill>
            <a:srgbClr val="3D6B52"/>
          </a:solidFill>
          <a:ln w="12700">
            <a:solidFill>
              <a:srgbClr val="3D6B52"/>
            </a:solidFill>
            <a:prstDash val="solid"/>
          </a:ln>
        </p:spPr>
      </p:sp>
      <p:sp>
        <p:nvSpPr>
          <p:cNvPr id="17" name="Text 14"/>
          <p:cNvSpPr/>
          <p:nvPr/>
        </p:nvSpPr>
        <p:spPr>
          <a:xfrm>
            <a:off x="4727448" y="2121408"/>
            <a:ext cx="397764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OpenAI Cost Management</a:t>
            </a:r>
            <a:endParaRPr lang="en-US" sz="1200" dirty="0"/>
          </a:p>
        </p:txBody>
      </p:sp>
      <p:sp>
        <p:nvSpPr>
          <p:cNvPr id="18" name="Text 15"/>
          <p:cNvSpPr/>
          <p:nvPr/>
        </p:nvSpPr>
        <p:spPr>
          <a:xfrm>
            <a:off x="4754880" y="2560320"/>
            <a:ext cx="3977640" cy="1938528"/>
          </a:xfrm>
          <a:prstGeom prst="rect">
            <a:avLst/>
          </a:prstGeom>
          <a:noFill/>
          <a:ln/>
        </p:spPr>
        <p:txBody>
          <a:bodyPr wrap="square" lIns="50800" tIns="50800" rIns="50800" bIns="50800" rtlCol="0" anchor="ctr"/>
          <a:lstStyle/>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Retrieval is fully local — no API calls during search</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Only top-K documents sent to OpenAI</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Using gpt-4o-mini (lower cost than GPT-4)</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Output token limit enforced</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Future: cache repeated advisories</a:t>
            </a:r>
            <a:endParaRPr lang="en-US" sz="1050" dirty="0"/>
          </a:p>
          <a:p>
            <a:pPr marL="342900" indent="-342900">
              <a:buSzPct val="100000"/>
              <a:buChar char="•"/>
            </a:pPr>
            <a:r>
              <a:rPr lang="en-US" sz="1050" dirty="0">
                <a:solidFill>
                  <a:srgbClr val="3B5249"/>
                </a:solidFill>
                <a:latin typeface="Calibri" pitchFamily="34" charset="0"/>
                <a:ea typeface="Calibri" pitchFamily="34" charset="-122"/>
                <a:cs typeface="Calibri" pitchFamily="34" charset="-120"/>
              </a:rPr>
              <a:t>Future: local open-source LLM option</a:t>
            </a:r>
            <a:endParaRPr lang="en-US" sz="1050" dirty="0"/>
          </a:p>
        </p:txBody>
      </p:sp>
      <p:sp>
        <p:nvSpPr>
          <p:cNvPr id="19" name="Shape 16"/>
          <p:cNvSpPr/>
          <p:nvPr/>
        </p:nvSpPr>
        <p:spPr>
          <a:xfrm>
            <a:off x="6858000" y="4663440"/>
            <a:ext cx="2011680" cy="320040"/>
          </a:xfrm>
          <a:prstGeom prst="rect">
            <a:avLst/>
          </a:prstGeom>
          <a:solidFill>
            <a:srgbClr val="2C5F2D"/>
          </a:solidFill>
          <a:ln w="12700">
            <a:solidFill>
              <a:srgbClr val="2C5F2D"/>
            </a:solidFill>
            <a:prstDash val="solid"/>
          </a:ln>
        </p:spPr>
      </p:sp>
      <p:sp>
        <p:nvSpPr>
          <p:cNvPr id="20" name="Text 17"/>
          <p:cNvSpPr/>
          <p:nvPr/>
        </p:nvSpPr>
        <p:spPr>
          <a:xfrm>
            <a:off x="6858000" y="4663440"/>
            <a:ext cx="20116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Speaker 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3C2B"/>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C5F2D"/>
          </a:solidFill>
          <a:ln w="12700">
            <a:solidFill>
              <a:srgbClr val="2C5F2D"/>
            </a:solidFill>
            <a:prstDash val="solid"/>
          </a:ln>
        </p:spPr>
      </p:sp>
      <p:sp>
        <p:nvSpPr>
          <p:cNvPr id="3" name="Text 1"/>
          <p:cNvSpPr/>
          <p:nvPr/>
        </p:nvSpPr>
        <p:spPr>
          <a:xfrm>
            <a:off x="411480" y="201168"/>
            <a:ext cx="841248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 &amp; Future Scope</a:t>
            </a:r>
            <a:endParaRPr lang="en-US" sz="2600" dirty="0"/>
          </a:p>
        </p:txBody>
      </p:sp>
      <p:sp>
        <p:nvSpPr>
          <p:cNvPr id="4" name="Shape 2"/>
          <p:cNvSpPr/>
          <p:nvPr/>
        </p:nvSpPr>
        <p:spPr>
          <a:xfrm>
            <a:off x="411480" y="731520"/>
            <a:ext cx="8321040" cy="27432"/>
          </a:xfrm>
          <a:prstGeom prst="rect">
            <a:avLst/>
          </a:prstGeom>
          <a:solidFill>
            <a:srgbClr val="6BAA75"/>
          </a:solidFill>
          <a:ln w="12700">
            <a:solidFill>
              <a:srgbClr val="6BAA75"/>
            </a:solidFill>
            <a:prstDash val="solid"/>
          </a:ln>
        </p:spPr>
      </p:sp>
      <p:sp>
        <p:nvSpPr>
          <p:cNvPr id="5" name="Shape 3"/>
          <p:cNvSpPr/>
          <p:nvPr/>
        </p:nvSpPr>
        <p:spPr>
          <a:xfrm>
            <a:off x="411480" y="841248"/>
            <a:ext cx="4023360" cy="2331720"/>
          </a:xfrm>
          <a:prstGeom prst="rect">
            <a:avLst/>
          </a:prstGeom>
          <a:solidFill>
            <a:srgbClr val="152B1E"/>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411480" y="841248"/>
            <a:ext cx="4023360" cy="365760"/>
          </a:xfrm>
          <a:prstGeom prst="rect">
            <a:avLst/>
          </a:prstGeom>
          <a:solidFill>
            <a:srgbClr val="4A7C59"/>
          </a:solidFill>
          <a:ln w="12700">
            <a:solidFill>
              <a:srgbClr val="4A7C59"/>
            </a:solidFill>
            <a:prstDash val="solid"/>
          </a:ln>
        </p:spPr>
      </p:sp>
      <p:sp>
        <p:nvSpPr>
          <p:cNvPr id="7" name="Text 5"/>
          <p:cNvSpPr/>
          <p:nvPr/>
        </p:nvSpPr>
        <p:spPr>
          <a:xfrm>
            <a:off x="475488" y="859536"/>
            <a:ext cx="38862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We Built</a:t>
            </a:r>
            <a:endParaRPr lang="en-US" sz="1300" dirty="0"/>
          </a:p>
        </p:txBody>
      </p:sp>
      <p:sp>
        <p:nvSpPr>
          <p:cNvPr id="8" name="Text 6"/>
          <p:cNvSpPr/>
          <p:nvPr/>
        </p:nvSpPr>
        <p:spPr>
          <a:xfrm>
            <a:off x="475488" y="1280160"/>
            <a:ext cx="3840480" cy="1828800"/>
          </a:xfrm>
          <a:prstGeom prst="rect">
            <a:avLst/>
          </a:prstGeom>
          <a:noFill/>
          <a:ln/>
        </p:spPr>
        <p:txBody>
          <a:bodyPr wrap="square" lIns="50800" tIns="50800" rIns="50800" bIns="50800" rtlCol="0" anchor="ctr"/>
          <a:lstStyle/>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Multimodal AI website: text + image input</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CNN crop disease classifier with confidence scoring</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Multi-source RAG knowledge base (3 data types)</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TF-IDF + cosine + keyword + metadata retrieval</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12-section OpenAI advisory generation</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Grad-CAM explainability heatmaps</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Quantitative evaluation with 5 metrics + confusion matrix</a:t>
            </a:r>
            <a:endParaRPr lang="en-US" sz="1000" dirty="0"/>
          </a:p>
        </p:txBody>
      </p:sp>
      <p:sp>
        <p:nvSpPr>
          <p:cNvPr id="9" name="Shape 7"/>
          <p:cNvSpPr/>
          <p:nvPr/>
        </p:nvSpPr>
        <p:spPr>
          <a:xfrm>
            <a:off x="4663440" y="841248"/>
            <a:ext cx="4160520" cy="2331720"/>
          </a:xfrm>
          <a:prstGeom prst="rect">
            <a:avLst/>
          </a:prstGeom>
          <a:solidFill>
            <a:srgbClr val="152B1E"/>
          </a:solidFill>
          <a:ln w="12700">
            <a:solidFill>
              <a:srgbClr val="D0C8BE"/>
            </a:solidFill>
            <a:prstDash val="solid"/>
          </a:ln>
          <a:effectLst>
            <a:outerShdw sx="100000" sy="100000" kx="0" ky="0" algn="bl" rotWithShape="0" blurRad="63500" dist="25400" dir="8100000">
              <a:srgbClr val="000000">
                <a:alpha val="10000"/>
              </a:srgbClr>
            </a:outerShdw>
          </a:effectLst>
        </p:spPr>
      </p:sp>
      <p:sp>
        <p:nvSpPr>
          <p:cNvPr id="10" name="Shape 8"/>
          <p:cNvSpPr/>
          <p:nvPr/>
        </p:nvSpPr>
        <p:spPr>
          <a:xfrm>
            <a:off x="4663440" y="841248"/>
            <a:ext cx="4160520" cy="365760"/>
          </a:xfrm>
          <a:prstGeom prst="rect">
            <a:avLst/>
          </a:prstGeom>
          <a:solidFill>
            <a:srgbClr val="E8A838"/>
          </a:solidFill>
          <a:ln w="12700">
            <a:solidFill>
              <a:srgbClr val="E8A838"/>
            </a:solidFill>
            <a:prstDash val="solid"/>
          </a:ln>
        </p:spPr>
      </p:sp>
      <p:sp>
        <p:nvSpPr>
          <p:cNvPr id="11" name="Text 9"/>
          <p:cNvSpPr/>
          <p:nvPr/>
        </p:nvSpPr>
        <p:spPr>
          <a:xfrm>
            <a:off x="4727448" y="859536"/>
            <a:ext cx="3977640" cy="320040"/>
          </a:xfrm>
          <a:prstGeom prst="rect">
            <a:avLst/>
          </a:prstGeom>
          <a:noFill/>
          <a:ln/>
        </p:spPr>
        <p:txBody>
          <a:bodyPr wrap="square" lIns="0" tIns="0" rIns="0" bIns="0" rtlCol="0" anchor="ctr"/>
          <a:lstStyle/>
          <a:p>
            <a:pPr indent="0" marL="0">
              <a:buNone/>
            </a:pPr>
            <a:r>
              <a:rPr lang="en-US" sz="1300" b="1" dirty="0">
                <a:solidFill>
                  <a:srgbClr val="1A3C2B"/>
                </a:solidFill>
                <a:latin typeface="Calibri" pitchFamily="34" charset="0"/>
                <a:ea typeface="Calibri" pitchFamily="34" charset="-122"/>
                <a:cs typeface="Calibri" pitchFamily="34" charset="-120"/>
              </a:rPr>
              <a:t>Future Enhancements</a:t>
            </a:r>
            <a:endParaRPr lang="en-US" sz="1300" dirty="0"/>
          </a:p>
        </p:txBody>
      </p:sp>
      <p:sp>
        <p:nvSpPr>
          <p:cNvPr id="12" name="Text 10"/>
          <p:cNvSpPr/>
          <p:nvPr/>
        </p:nvSpPr>
        <p:spPr>
          <a:xfrm>
            <a:off x="4727448" y="1280160"/>
            <a:ext cx="3977640" cy="1828800"/>
          </a:xfrm>
          <a:prstGeom prst="rect">
            <a:avLst/>
          </a:prstGeom>
          <a:noFill/>
          <a:ln/>
        </p:spPr>
        <p:txBody>
          <a:bodyPr wrap="square" lIns="50800" tIns="50800" rIns="50800" bIns="50800" rtlCol="0" anchor="ctr"/>
          <a:lstStyle/>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FAISS + sentence-transformers for semantic retrieval</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ChromaDB persistent vector database</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BLIP image captioning for symptom description</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Multilingual farmer support</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Mobile application &amp; voice assistant</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Larger crop disease datasets</a:t>
            </a:r>
            <a:endParaRPr lang="en-US" sz="1000" dirty="0"/>
          </a:p>
          <a:p>
            <a:pPr marL="342900" indent="-342900">
              <a:buSzPct val="100000"/>
              <a:buChar char="•"/>
            </a:pPr>
            <a:r>
              <a:rPr lang="en-US" sz="1000" dirty="0">
                <a:solidFill>
                  <a:srgbClr val="A8D5B5"/>
                </a:solidFill>
                <a:latin typeface="Calibri" pitchFamily="34" charset="0"/>
                <a:ea typeface="Calibri" pitchFamily="34" charset="-122"/>
                <a:cs typeface="Calibri" pitchFamily="34" charset="-120"/>
              </a:rPr>
              <a:t>Local open-source LLM (Mistral / Llama)</a:t>
            </a:r>
            <a:endParaRPr lang="en-US" sz="1000" dirty="0"/>
          </a:p>
        </p:txBody>
      </p:sp>
      <p:sp>
        <p:nvSpPr>
          <p:cNvPr id="13" name="Shape 11"/>
          <p:cNvSpPr/>
          <p:nvPr/>
        </p:nvSpPr>
        <p:spPr>
          <a:xfrm>
            <a:off x="411480" y="3291840"/>
            <a:ext cx="8321040" cy="685800"/>
          </a:xfrm>
          <a:prstGeom prst="rect">
            <a:avLst/>
          </a:prstGeom>
          <a:solidFill>
            <a:srgbClr val="E8A838"/>
          </a:solidFill>
          <a:ln w="12700">
            <a:solidFill>
              <a:srgbClr val="E8A838"/>
            </a:solidFill>
            <a:prstDash val="solid"/>
          </a:ln>
        </p:spPr>
      </p:sp>
      <p:sp>
        <p:nvSpPr>
          <p:cNvPr id="14" name="Text 12"/>
          <p:cNvSpPr/>
          <p:nvPr/>
        </p:nvSpPr>
        <p:spPr>
          <a:xfrm>
            <a:off x="502920" y="3337560"/>
            <a:ext cx="8138160" cy="594360"/>
          </a:xfrm>
          <a:prstGeom prst="rect">
            <a:avLst/>
          </a:prstGeom>
          <a:noFill/>
          <a:ln/>
        </p:spPr>
        <p:txBody>
          <a:bodyPr wrap="square" lIns="50800" tIns="50800" rIns="50800" bIns="50800" rtlCol="0" anchor="ctr"/>
          <a:lstStyle/>
          <a:p>
            <a:pPr indent="0" marL="0">
              <a:buNone/>
            </a:pPr>
            <a:r>
              <a:rPr lang="en-US" sz="1200" i="1" dirty="0">
                <a:solidFill>
                  <a:srgbClr val="1A3C2B"/>
                </a:solidFill>
                <a:latin typeface="Calibri" pitchFamily="34" charset="0"/>
                <a:ea typeface="Calibri" pitchFamily="34" charset="-122"/>
                <a:cs typeface="Calibri" pitchFamily="34" charset="-120"/>
              </a:rPr>
              <a:t>AgriAssist demonstrates that combining CNN, RAG, and generative AI can provide accessible, explainable, and evidence-grounded agricultural guidance — bridging the technology gap for farmers.</a:t>
            </a:r>
            <a:endParaRPr lang="en-US" sz="1200" dirty="0"/>
          </a:p>
        </p:txBody>
      </p:sp>
      <p:sp>
        <p:nvSpPr>
          <p:cNvPr id="15" name="Shape 13"/>
          <p:cNvSpPr/>
          <p:nvPr/>
        </p:nvSpPr>
        <p:spPr>
          <a:xfrm>
            <a:off x="411480" y="4096512"/>
            <a:ext cx="8321040" cy="640080"/>
          </a:xfrm>
          <a:prstGeom prst="rect">
            <a:avLst/>
          </a:prstGeom>
          <a:solidFill>
            <a:srgbClr val="152B1E"/>
          </a:solidFill>
          <a:ln w="12700">
            <a:solidFill>
              <a:srgbClr val="4A7C59"/>
            </a:solidFill>
            <a:prstDash val="solid"/>
          </a:ln>
        </p:spPr>
      </p:sp>
      <p:sp>
        <p:nvSpPr>
          <p:cNvPr id="16" name="Text 14"/>
          <p:cNvSpPr/>
          <p:nvPr/>
        </p:nvSpPr>
        <p:spPr>
          <a:xfrm>
            <a:off x="475488" y="4133088"/>
            <a:ext cx="8138160" cy="548640"/>
          </a:xfrm>
          <a:prstGeom prst="rect">
            <a:avLst/>
          </a:prstGeom>
          <a:noFill/>
          <a:ln/>
        </p:spPr>
        <p:txBody>
          <a:bodyPr wrap="square" lIns="25400" tIns="25400" rIns="25400" bIns="25400" rtlCol="0" anchor="ctr"/>
          <a:lstStyle/>
          <a:p>
            <a:pPr indent="0" marL="0">
              <a:buNone/>
            </a:pPr>
            <a:r>
              <a:rPr lang="en-US" sz="950" b="1" dirty="0">
                <a:solidFill>
                  <a:srgbClr val="E8A838"/>
                </a:solidFill>
                <a:latin typeface="Calibri" pitchFamily="34" charset="0"/>
                <a:ea typeface="Calibri" pitchFamily="34" charset="-122"/>
                <a:cs typeface="Calibri" pitchFamily="34" charset="-120"/>
              </a:rPr>
              <a:t>References:  </a:t>
            </a:r>
            <a:pPr indent="0" marL="0">
              <a:buNone/>
            </a:pPr>
            <a:r>
              <a:rPr lang="en-US" sz="950" dirty="0">
                <a:solidFill>
                  <a:srgbClr val="A8D5B5"/>
                </a:solidFill>
                <a:latin typeface="Calibri" pitchFamily="34" charset="0"/>
                <a:ea typeface="Calibri" pitchFamily="34" charset="-122"/>
                <a:cs typeface="Calibri" pitchFamily="34" charset="-120"/>
              </a:rPr>
              <a:t>Lewis et al., RAG for Knowledge-Intensive NLP Tasks, NeurIPS 2020  ·  </a:t>
            </a:r>
            <a:pPr indent="0" marL="0">
              <a:buNone/>
            </a:pPr>
            <a:r>
              <a:rPr lang="en-US" sz="950" dirty="0">
                <a:solidFill>
                  <a:srgbClr val="A8D5B5"/>
                </a:solidFill>
                <a:latin typeface="Calibri" pitchFamily="34" charset="0"/>
                <a:ea typeface="Calibri" pitchFamily="34" charset="-122"/>
                <a:cs typeface="Calibri" pitchFamily="34" charset="-120"/>
              </a:rPr>
              <a:t>Selvaraju et al., Grad-CAM: Visual Explanations from Deep Networks, ICCV 2017</a:t>
            </a:r>
            <a:endParaRPr lang="en-US" sz="950" dirty="0"/>
          </a:p>
        </p:txBody>
      </p:sp>
      <p:sp>
        <p:nvSpPr>
          <p:cNvPr id="17" name="Shape 15"/>
          <p:cNvSpPr/>
          <p:nvPr/>
        </p:nvSpPr>
        <p:spPr>
          <a:xfrm>
            <a:off x="0" y="4846320"/>
            <a:ext cx="9144000" cy="297180"/>
          </a:xfrm>
          <a:prstGeom prst="rect">
            <a:avLst/>
          </a:prstGeom>
          <a:solidFill>
            <a:srgbClr val="2C5F2D"/>
          </a:solidFill>
          <a:ln w="12700">
            <a:solidFill>
              <a:srgbClr val="2C5F2D"/>
            </a:solidFill>
            <a:prstDash val="solid"/>
          </a:ln>
        </p:spPr>
      </p:sp>
      <p:sp>
        <p:nvSpPr>
          <p:cNvPr id="18" name="Text 16"/>
          <p:cNvSpPr/>
          <p:nvPr/>
        </p:nvSpPr>
        <p:spPr>
          <a:xfrm>
            <a:off x="274320" y="4855464"/>
            <a:ext cx="859536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github.com/SohanVarma/AgriAssist-Completed  |  http://127.0.0.1:8000  |  Thank You!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AgriAssist - Multimodal Crop Disease Diagnosis</dc:title>
  <dc:subject>PptxGenJS Presentation</dc:subject>
  <dc:creator>PptxGenJS</dc:creator>
  <cp:lastModifiedBy>PptxGenJS</cp:lastModifiedBy>
  <cp:revision>1</cp:revision>
  <dcterms:created xsi:type="dcterms:W3CDTF">2026-06-01T04:48:04Z</dcterms:created>
  <dcterms:modified xsi:type="dcterms:W3CDTF">2026-06-01T04:48:04Z</dcterms:modified>
</cp:coreProperties>
</file>